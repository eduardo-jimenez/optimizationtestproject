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53.xml" ContentType="application/vnd.openxmlformats-officedocument.presentationml.notesSlid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56.xml" ContentType="application/vnd.openxmlformats-officedocument.presentationml.notesSlide+xml"/>
  <Override PartName="/ppt/notesSlides/notesSlide4.xml" ContentType="application/vnd.openxmlformats-officedocument.presentationml.notesSlide+xml"/>
  <Override PartName="/ppt/notesSlides/notesSlide5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67.xml" ContentType="application/vnd.openxmlformats-officedocument.presentationml.notesSlide+xml"/>
  <Override PartName="/ppt/notesSlides/notesSlide11.xml" ContentType="application/vnd.openxmlformats-officedocument.presentationml.notesSlide+xml"/>
  <Override PartName="/ppt/notesSlides/notesSlide68.xml" ContentType="application/vnd.openxmlformats-officedocument.presentationml.notesSlide+xml"/>
  <Override PartName="/ppt/notesSlides/notesSlide12.xml" ContentType="application/vnd.openxmlformats-officedocument.presentationml.notesSlide+xml"/>
  <Override PartName="/ppt/notesSlides/notesSlide69.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_rels/notesSlide62.xml.rels" ContentType="application/vnd.openxmlformats-package.relationships+xml"/>
  <Override PartName="/ppt/notesSlides/_rels/notesSlide9.xml.rels" ContentType="application/vnd.openxmlformats-package.relationships+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57.xml.rels" ContentType="application/vnd.openxmlformats-package.relationships+xml"/>
  <Override PartName="/ppt/notesSlides/_rels/notesSlide53.xml.rels" ContentType="application/vnd.openxmlformats-package.relationships+xml"/>
  <Override PartName="/ppt/notesSlides/_rels/notesSlide48.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47.xml.rels" ContentType="application/vnd.openxmlformats-package.relationships+xml"/>
  <Override PartName="/ppt/notesSlides/_rels/notesSlide56.xml.rels" ContentType="application/vnd.openxmlformats-package.relationships+xml"/>
  <Override PartName="/ppt/notesSlides/_rels/notesSlide6.xml.rels" ContentType="application/vnd.openxmlformats-package.relationships+xml"/>
  <Override PartName="/ppt/notesSlides/_rels/notesSlide49.xml.rels" ContentType="application/vnd.openxmlformats-package.relationships+xml"/>
  <Override PartName="/ppt/notesSlides/_rels/notesSlide7.xml.rels" ContentType="application/vnd.openxmlformats-package.relationships+xml"/>
  <Override PartName="/ppt/notesSlides/_rels/notesSlide60.xml.rels" ContentType="application/vnd.openxmlformats-package.relationships+xml"/>
  <Override PartName="/ppt/notesSlides/_rels/notesSlide8.xml.rels" ContentType="application/vnd.openxmlformats-package.relationships+xml"/>
  <Override PartName="/ppt/notesSlides/_rels/notesSlide61.xml.rels" ContentType="application/vnd.openxmlformats-package.relationships+xml"/>
  <Override PartName="/ppt/notesSlides/_rels/notesSlide67.xml.rels" ContentType="application/vnd.openxmlformats-package.relationships+xml"/>
  <Override PartName="/ppt/notesSlides/_rels/notesSlide10.xml.rels" ContentType="application/vnd.openxmlformats-package.relationships+xml"/>
  <Override PartName="/ppt/notesSlides/_rels/notesSlide68.xml.rels" ContentType="application/vnd.openxmlformats-package.relationships+xml"/>
  <Override PartName="/ppt/notesSlides/_rels/notesSlide11.xml.rels" ContentType="application/vnd.openxmlformats-package.relationships+xml"/>
  <Override PartName="/ppt/notesSlides/_rels/notesSlide69.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45.xml.rels" ContentType="application/vnd.openxmlformats-package.relationships+xml"/>
  <Override PartName="/ppt/notesSlides/_rels/notesSlide46.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52.xml.rels" ContentType="application/vnd.openxmlformats-package.relationships+xml"/>
  <Override PartName="/ppt/notesSlides/_rels/notesSlide54.xml.rels" ContentType="application/vnd.openxmlformats-package.relationships+xml"/>
  <Override PartName="/ppt/notesSlides/_rels/notesSlide55.xml.rels" ContentType="application/vnd.openxmlformats-package.relationships+xml"/>
  <Override PartName="/ppt/notesSlides/_rels/notesSlide63.xml.rels" ContentType="application/vnd.openxmlformats-package.relationships+xml"/>
  <Override PartName="/ppt/notesSlides/_rels/notesSlide64.xml.rels" ContentType="application/vnd.openxmlformats-package.relationships+xml"/>
  <Override PartName="/ppt/notesSlides/_rels/notesSlide65.xml.rels" ContentType="application/vnd.openxmlformats-package.relationships+xml"/>
  <Override PartName="/ppt/notesSlides/_rels/notesSlide66.xml.rels" ContentType="application/vnd.openxmlformats-package.relationships+xml"/>
  <Override PartName="/ppt/notesSlides/_rels/notesSlide70.xml.rels" ContentType="application/vnd.openxmlformats-package.relationships+xml"/>
  <Override PartName="/ppt/notesSlides/_rels/notesSlide71.xml.rels" ContentType="application/vnd.openxmlformats-package.relationships+xml"/>
  <Override PartName="/ppt/notesSlides/_rels/notesSlide72.xml.rels" ContentType="application/vnd.openxmlformats-package.relationships+xml"/>
  <Override PartName="/ppt/media/image1.png" ContentType="image/png"/>
  <Override PartName="/ppt/media/image7.jpeg" ContentType="image/jpeg"/>
  <Override PartName="/ppt/media/image2.jpeg" ContentType="image/jpeg"/>
  <Override PartName="/ppt/media/image8.png" ContentType="image/png"/>
  <Override PartName="/ppt/media/image3.png" ContentType="image/png"/>
  <Override PartName="/ppt/media/image11.png" ContentType="image/png"/>
  <Override PartName="/ppt/media/image4.svg" ContentType="image/svg"/>
  <Override PartName="/ppt/media/image5.png" ContentType="image/png"/>
  <Override PartName="/ppt/media/image6.png" ContentType="image/png"/>
  <Override PartName="/ppt/media/image9.jpeg" ContentType="image/jpeg"/>
  <Override PartName="/ppt/media/image10.png" ContentType="image/png"/>
  <Override PartName="/ppt/media/image12.png" ContentType="image/png"/>
  <Override PartName="/ppt/media/image13.jpeg" ContentType="image/jpeg"/>
  <Override PartName="/ppt/media/image19.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3.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slides/_rels/slide67.xml.rels" ContentType="application/vnd.openxmlformats-package.relationships+xml"/>
  <Override PartName="/ppt/slides/_rels/slide68.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7" r:id="rId6"/>
    <p:sldMasterId id="2147483658" r:id="rId7"/>
    <p:sldMasterId id="2147483659" r:id="rId8"/>
    <p:sldMasterId id="2147483660" r:id="rId9"/>
    <p:sldMasterId id="2147483661"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notesMaster" Target="notesMasters/notes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720000" y="900000"/>
            <a:ext cx="6120000" cy="3441600"/>
          </a:xfrm>
          <a:prstGeom prst="rect">
            <a:avLst/>
          </a:prstGeom>
          <a:noFill/>
          <a:ln w="0">
            <a:noFill/>
          </a:ln>
        </p:spPr>
        <p:txBody>
          <a:bodyPr lIns="0" rIns="0" tIns="0" bIns="0" anchor="ctr">
            <a:normAutofit/>
          </a:bodyPr>
          <a:p>
            <a:pPr algn="ctr"/>
            <a:r>
              <a:rPr b="1" lang="es-ES" sz="4400" strike="noStrike" u="none">
                <a:solidFill>
                  <a:srgbClr val="062814"/>
                </a:solidFill>
                <a:uFillTx/>
                <a:latin typeface="Noto Sans"/>
              </a:rPr>
              <a:t>Pulse para desplazar la diapositiva</a:t>
            </a:r>
            <a:endParaRPr b="1" lang="es-ES" sz="4400" strike="noStrike" u="none">
              <a:solidFill>
                <a:srgbClr val="062814"/>
              </a:solidFill>
              <a:uFillTx/>
              <a:latin typeface="Noto Sans"/>
            </a:endParaRPr>
          </a:p>
        </p:txBody>
      </p:sp>
      <p:sp>
        <p:nvSpPr>
          <p:cNvPr id="150"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Pulse para editar el formato de las notas</a:t>
            </a:r>
            <a:endParaRPr b="0" lang="es-ES" sz="2000" strike="noStrike" u="none">
              <a:solidFill>
                <a:srgbClr val="000000"/>
              </a:solidFill>
              <a:uFillTx/>
              <a:latin typeface="Noto Sans"/>
            </a:endParaRPr>
          </a:p>
        </p:txBody>
      </p:sp>
      <p:sp>
        <p:nvSpPr>
          <p:cNvPr id="15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trike="noStrike" u="none">
                <a:solidFill>
                  <a:srgbClr val="000000"/>
                </a:solidFill>
                <a:uFillTx/>
                <a:latin typeface="Noto Sans"/>
              </a:rPr>
              <a:t>&lt;cabecera&gt;</a:t>
            </a:r>
            <a:endParaRPr b="0" lang="es-ES" sz="1400" strike="noStrike" u="none">
              <a:solidFill>
                <a:srgbClr val="000000"/>
              </a:solidFill>
              <a:uFillTx/>
              <a:latin typeface="Noto Sans"/>
            </a:endParaRPr>
          </a:p>
        </p:txBody>
      </p:sp>
      <p:sp>
        <p:nvSpPr>
          <p:cNvPr id="152" name="PlaceHolder 4"/>
          <p:cNvSpPr>
            <a:spLocks noGrp="1"/>
          </p:cNvSpPr>
          <p:nvPr>
            <p:ph type="dt" idx="28"/>
          </p:nvPr>
        </p:nvSpPr>
        <p:spPr>
          <a:xfrm>
            <a:off x="4278960" y="0"/>
            <a:ext cx="3280680" cy="534240"/>
          </a:xfrm>
          <a:prstGeom prst="rect">
            <a:avLst/>
          </a:prstGeom>
          <a:noFill/>
          <a:ln w="0">
            <a:noFill/>
          </a:ln>
        </p:spPr>
        <p:txBody>
          <a:bodyPr lIns="0" rIns="0" tIns="0" bIns="0" anchor="t">
            <a:noAutofit/>
          </a:bodyPr>
          <a:lstStyle>
            <a:lvl1pPr indent="0" algn="r">
              <a:buNone/>
              <a:defRPr b="0" lang="es-ES" sz="1400" strike="noStrike" u="none">
                <a:solidFill>
                  <a:srgbClr val="000000"/>
                </a:solidFill>
                <a:uFillTx/>
                <a:latin typeface="Noto Sans"/>
              </a:defRPr>
            </a:lvl1pPr>
          </a:lstStyle>
          <a:p>
            <a:pPr indent="0" algn="r">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53" name="PlaceHolder 5"/>
          <p:cNvSpPr>
            <a:spLocks noGrp="1"/>
          </p:cNvSpPr>
          <p:nvPr>
            <p:ph type="ftr" idx="29"/>
          </p:nvPr>
        </p:nvSpPr>
        <p:spPr>
          <a:xfrm>
            <a:off x="0" y="10157400"/>
            <a:ext cx="3280680" cy="53424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54" name="PlaceHolder 6"/>
          <p:cNvSpPr>
            <a:spLocks noGrp="1"/>
          </p:cNvSpPr>
          <p:nvPr>
            <p:ph type="sldNum" idx="30"/>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BF9E7C2C-CA25-4532-99EE-956A9FFB8712}"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720000" y="900000"/>
            <a:ext cx="6120000" cy="3441600"/>
          </a:xfrm>
          <a:prstGeom prst="rect">
            <a:avLst/>
          </a:prstGeom>
          <a:ln w="0">
            <a:noFill/>
          </a:ln>
        </p:spPr>
      </p:sp>
      <p:sp>
        <p:nvSpPr>
          <p:cNvPr id="31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Noto Sans"/>
              </a:rPr>
              <a:t>Presentación personal y CV</a:t>
            </a:r>
            <a:endParaRPr b="0" lang="es-ES" sz="2000" strike="noStrike" u="none">
              <a:solidFill>
                <a:srgbClr val="000000"/>
              </a:solidFill>
              <a:uFillTx/>
              <a:latin typeface="Noto Sans"/>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720000" y="900000"/>
            <a:ext cx="6120000" cy="3441600"/>
          </a:xfrm>
          <a:prstGeom prst="rect">
            <a:avLst/>
          </a:prstGeom>
          <a:ln w="0">
            <a:noFill/>
          </a:ln>
        </p:spPr>
      </p:sp>
      <p:sp>
        <p:nvSpPr>
          <p:cNvPr id="31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Noto Sans"/>
              </a:rPr>
              <a:t>La idea no es enseñar un método infalible que siempre hay que usar en cualquier proyecto. La idea es mostrar una serie de técnicas para evaluar los cuellos de botella y, por otro lado, pequeños trucos, técnicas y formas de mejorar la performance en distintas situaciones.</a:t>
            </a:r>
            <a:endParaRPr b="0" lang="es-ES" sz="2000" strike="noStrike" u="none">
              <a:solidFill>
                <a:srgbClr val="000000"/>
              </a:solidFill>
              <a:uFillTx/>
              <a:latin typeface="Noto Sans"/>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720000" y="900000"/>
            <a:ext cx="6120000" cy="3441600"/>
          </a:xfrm>
          <a:prstGeom prst="rect">
            <a:avLst/>
          </a:prstGeom>
          <a:ln w="0">
            <a:noFill/>
          </a:ln>
        </p:spPr>
      </p:sp>
      <p:sp>
        <p:nvSpPr>
          <p:cNvPr id="32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Noto Sans"/>
              </a:rPr>
              <a:t>Vamos a seguir un ‘approach’ bastante práctico. Para eso he desarrollado un proyecto de Unity de boids que sirva de hilo conductor del seminario.</a:t>
            </a:r>
            <a:endParaRPr b="0" lang="es-ES" sz="2000" strike="noStrike" u="none">
              <a:solidFill>
                <a:srgbClr val="000000"/>
              </a:solidFill>
              <a:uFillTx/>
              <a:latin typeface="Noto Sans"/>
            </a:endParaRPr>
          </a:p>
          <a:p>
            <a:pPr marL="216000" indent="-216000">
              <a:buNone/>
            </a:pPr>
            <a:r>
              <a:rPr b="0" lang="en-US" sz="2000" strike="noStrike" u="none">
                <a:solidFill>
                  <a:srgbClr val="000000"/>
                </a:solidFill>
                <a:uFillTx/>
                <a:latin typeface="Noto Sans"/>
              </a:rPr>
              <a:t>Podemos mostrar aquí la versión más lenta y la más rápida del proyecto para hacer un poco de foreshadowing.</a:t>
            </a:r>
            <a:endParaRPr b="0" lang="es-ES" sz="2000" strike="noStrike" u="none">
              <a:solidFill>
                <a:srgbClr val="000000"/>
              </a:solidFill>
              <a:uFillTx/>
              <a:latin typeface="Noto Sans"/>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720000" y="900000"/>
            <a:ext cx="6120000" cy="3441600"/>
          </a:xfrm>
          <a:prstGeom prst="rect">
            <a:avLst/>
          </a:prstGeom>
          <a:ln w="0">
            <a:noFill/>
          </a:ln>
        </p:spPr>
      </p:sp>
      <p:sp>
        <p:nvSpPr>
          <p:cNvPr id="32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Explicar básicamente que son los boids y por qué hemos usado este sistema.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Inicialmente hice la implementación de un sistema de simulación de fluidos en 2D usando las ecuaciones de Navier Stokes. El problema que tenía es que no era fácil de usar como ejemplo para optimizaciones (sobre todo inicialmente para costes algoritmicos).</a:t>
            </a:r>
            <a:endParaRPr b="0" lang="es-ES" sz="2000" strike="noStrike" u="none">
              <a:solidFill>
                <a:srgbClr val="000000"/>
              </a:solidFill>
              <a:uFillTx/>
              <a:latin typeface="Noto Sans"/>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720000" y="900000"/>
            <a:ext cx="6120000" cy="3441600"/>
          </a:xfrm>
          <a:prstGeom prst="rect">
            <a:avLst/>
          </a:prstGeom>
          <a:ln w="0">
            <a:noFill/>
          </a:ln>
        </p:spPr>
      </p:sp>
      <p:sp>
        <p:nvSpPr>
          <p:cNvPr id="32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Noto Sans"/>
              </a:rPr>
              <a:t>Explicar las 4 reglas que gobiernan el comportamiento de los ‘boids’. Son reglas que se aplican a cada entidad pero que luego generan comportamientos ‘emergentes’</a:t>
            </a:r>
            <a:endParaRPr b="0" lang="es-ES" sz="2000" strike="noStrike" u="none">
              <a:solidFill>
                <a:srgbClr val="000000"/>
              </a:solidFill>
              <a:uFillTx/>
              <a:latin typeface="Noto Sans"/>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720000" y="900000"/>
            <a:ext cx="6120000" cy="3441600"/>
          </a:xfrm>
          <a:prstGeom prst="rect">
            <a:avLst/>
          </a:prstGeom>
          <a:ln w="0">
            <a:noFill/>
          </a:ln>
        </p:spPr>
      </p:sp>
      <p:sp>
        <p:nvSpPr>
          <p:cNvPr id="32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principal coste del sistema viene de encontrar los boids cercanos con los que interactuar. Inicialmente usaremos un algoritmo de fuerza bruta que símplemente recorre todos los boids desechando aquellos que están demasiado lejos.</a:t>
            </a:r>
            <a:endParaRPr b="0" lang="es-ES" sz="2000" strike="noStrike" u="none">
              <a:solidFill>
                <a:srgbClr val="000000"/>
              </a:solidFill>
              <a:uFillTx/>
              <a:latin typeface="Noto Sans"/>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720000" y="900000"/>
            <a:ext cx="6120000" cy="3441600"/>
          </a:xfrm>
          <a:prstGeom prst="rect">
            <a:avLst/>
          </a:prstGeom>
          <a:ln w="0">
            <a:noFill/>
          </a:ln>
        </p:spPr>
      </p:sp>
      <p:sp>
        <p:nvSpPr>
          <p:cNvPr id="32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Comentar brevemente el código.</a:t>
            </a:r>
            <a:endParaRPr b="0" lang="es-ES" sz="2000" strike="noStrike" u="none">
              <a:solidFill>
                <a:srgbClr val="000000"/>
              </a:solidFill>
              <a:uFillTx/>
              <a:latin typeface="Noto Sans"/>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720000" y="900000"/>
            <a:ext cx="6120000" cy="3441600"/>
          </a:xfrm>
          <a:prstGeom prst="rect">
            <a:avLst/>
          </a:prstGeom>
          <a:ln w="0">
            <a:noFill/>
          </a:ln>
        </p:spPr>
      </p:sp>
      <p:sp>
        <p:nvSpPr>
          <p:cNvPr id="33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Mostrar el Unity profiler y explicar básicamente para qué sirven las distintas partes.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Después nos centramos en el CPU Profiler mostrando los distintos modos, especialmente Timeline y Hierarchy y para qué son útiles cada uno de ellos.</a:t>
            </a:r>
            <a:endParaRPr b="0" lang="es-ES" sz="2000" strike="noStrike" u="none">
              <a:solidFill>
                <a:srgbClr val="000000"/>
              </a:solidFill>
              <a:uFillTx/>
              <a:latin typeface="Noto Sans"/>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720000" y="900000"/>
            <a:ext cx="6120000" cy="3441600"/>
          </a:xfrm>
          <a:prstGeom prst="rect">
            <a:avLst/>
          </a:prstGeom>
          <a:ln w="0">
            <a:noFill/>
          </a:ln>
        </p:spPr>
      </p:sp>
      <p:sp>
        <p:nvSpPr>
          <p:cNvPr id="33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mostramos el profiler de Unity y se ve claramente que el coste principal es la simulación de los boids. Dentro aparecen 3 grandes culpables (UpdateCohesion, UpdateAlignment y UpdateSeparation). UpdateBorderRepulsion tiene un coste muchísimo menor.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 decir, el coste está en FindBoidsInCircle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Mostrar esto en tiempo real.</a:t>
            </a:r>
            <a:endParaRPr b="0" lang="es-ES" sz="2000" strike="noStrike" u="none">
              <a:solidFill>
                <a:srgbClr val="000000"/>
              </a:solidFill>
              <a:uFillTx/>
              <a:latin typeface="Noto Sans"/>
            </a:endParaRPr>
          </a:p>
          <a:p>
            <a:pPr marL="216000" indent="-216000">
              <a:buNone/>
            </a:pPr>
            <a:endParaRPr b="0" lang="es-ES" sz="2000" strike="noStrike" u="none">
              <a:solidFill>
                <a:srgbClr val="000000"/>
              </a:solidFill>
              <a:uFillTx/>
              <a:latin typeface="Noto Sans"/>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720000" y="900000"/>
            <a:ext cx="6120000" cy="3441600"/>
          </a:xfrm>
          <a:prstGeom prst="rect">
            <a:avLst/>
          </a:prstGeom>
          <a:ln w="0">
            <a:noFill/>
          </a:ln>
        </p:spPr>
      </p:sp>
      <p:sp>
        <p:nvSpPr>
          <p:cNvPr id="335" name="PlaceHolder 2"/>
          <p:cNvSpPr>
            <a:spLocks noGrp="1"/>
          </p:cNvSpPr>
          <p:nvPr>
            <p:ph type="body"/>
          </p:nvPr>
        </p:nvSpPr>
        <p:spPr>
          <a:xfrm>
            <a:off x="720000" y="4680000"/>
            <a:ext cx="6120000" cy="59061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Poner samples en el código para hacer profiling específico de ciertas partes. Esto nos da información de partes concretas. Muy a menudo necesitamos indagar para saber qué está siendo un problema.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Exite una opción llamada deep profiling que te da información extra pero tiene sus contras.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 importante hacer notar que hacer profiling tb tiene un coste de CPU. En concreto con deep profiling tienes el problema de que C# no va a hacer inlining de funciones y va a eliminar ciertas optimizaciones y puede dar errores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He visto esto en el pasado. En Toy Tactics se guiaban bte por esto y se cometían ciertos errores (lo vimos cuando optimizamos para Switch)</a:t>
            </a:r>
            <a:endParaRPr b="0" lang="es-ES" sz="2000" strike="noStrike" u="none">
              <a:solidFill>
                <a:srgbClr val="000000"/>
              </a:solidFill>
              <a:uFillTx/>
              <a:latin typeface="Noto Sans"/>
            </a:endParaRPr>
          </a:p>
          <a:p>
            <a:pPr marL="216000" indent="-216000">
              <a:buNone/>
            </a:pPr>
            <a:endParaRPr b="0" lang="es-ES" sz="2000" strike="noStrike" u="none">
              <a:solidFill>
                <a:srgbClr val="000000"/>
              </a:solidFill>
              <a:uFillTx/>
              <a:latin typeface="Noto Sans"/>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720000" y="900000"/>
            <a:ext cx="6120000" cy="3441600"/>
          </a:xfrm>
          <a:prstGeom prst="rect">
            <a:avLst/>
          </a:prstGeom>
          <a:ln w="0">
            <a:noFill/>
          </a:ln>
        </p:spPr>
      </p:sp>
      <p:sp>
        <p:nvSpPr>
          <p:cNvPr id="337" name="PlaceHolder 2"/>
          <p:cNvSpPr>
            <a:spLocks noGrp="1"/>
          </p:cNvSpPr>
          <p:nvPr>
            <p:ph type="body"/>
          </p:nvPr>
        </p:nvSpPr>
        <p:spPr>
          <a:xfrm>
            <a:off x="720000" y="4680000"/>
            <a:ext cx="6120000" cy="5211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Lo primero que tiene que considerar uno a la hora de optimizar es si podemos mejorar la complejidad algorítmica. En general se van a conseguir resultados con más impacto que con otras cosas.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Por otro lado… esto no siempre es así. Tenemos que recordar que los algoritmos tienen constantes y que sólo merece la pena optimizar por ahí si tenemos un número suficiente de elementos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nuestro caso sí por los boids, pero por ejemplo, optimizar un algoritmo de ordenación que sólo va a ordenar listas de 10 elementos es innecesario o puede que incluso contraproducente.</a:t>
            </a:r>
            <a:endParaRPr b="0" lang="es-ES" sz="2000" strike="noStrike" u="none">
              <a:solidFill>
                <a:srgbClr val="000000"/>
              </a:solidFill>
              <a:uFillTx/>
              <a:latin typeface="Noto Sans"/>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720000" y="900000"/>
            <a:ext cx="6120000" cy="3441600"/>
          </a:xfrm>
          <a:prstGeom prst="rect">
            <a:avLst/>
          </a:prstGeom>
          <a:ln w="0">
            <a:noFill/>
          </a:ln>
        </p:spPr>
      </p:sp>
      <p:sp>
        <p:nvSpPr>
          <p:cNvPr id="33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Nosotros tenemos varios obvios puntos de actuación.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Vamos a empezar por uno que es muy común en videojuegos: la division espacial. Si añadimos una estructura de datos que divida el espacio podemos minimizar el número de boids que comprobamos cuando buscamos los cercanos.</a:t>
            </a:r>
            <a:endParaRPr b="0" lang="es-ES" sz="2000" strike="noStrike" u="none">
              <a:solidFill>
                <a:srgbClr val="000000"/>
              </a:solidFill>
              <a:uFillTx/>
              <a:latin typeface="Noto Sans"/>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720000" y="900000"/>
            <a:ext cx="6120000" cy="3441600"/>
          </a:xfrm>
          <a:prstGeom prst="rect">
            <a:avLst/>
          </a:prstGeom>
          <a:ln w="0">
            <a:noFill/>
          </a:ln>
        </p:spPr>
      </p:sp>
      <p:sp>
        <p:nvSpPr>
          <p:cNvPr id="34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Otra optimización razonablemente obvia es que podemos reutilizar datos. Podemos usar los boids del chequeo que tenga mayor número de datos y usar esos para los 3 chequeos.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tema es que esto puede o no mejorar la performance, dependiendo de los radios y cuánto varían… y cuál es el coste de conseguir nuevos datos de la estructura de datos.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Empezaremos implementando esta mejora</a:t>
            </a:r>
            <a:endParaRPr b="0" lang="es-ES" sz="2000" strike="noStrike" u="none">
              <a:solidFill>
                <a:srgbClr val="000000"/>
              </a:solidFill>
              <a:uFillTx/>
              <a:latin typeface="Noto Sans"/>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720000" y="900000"/>
            <a:ext cx="6120000" cy="3441600"/>
          </a:xfrm>
          <a:prstGeom prst="rect">
            <a:avLst/>
          </a:prstGeom>
          <a:ln w="0">
            <a:noFill/>
          </a:ln>
        </p:spPr>
      </p:sp>
      <p:sp>
        <p:nvSpPr>
          <p:cNvPr id="34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código lo deberíamos ver en Visual Studio para poder dar más detalle y profundidad a esta parte.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mostramos que lo que hacemos es muy simple, sólo comparamos los 3 radios y nos quedamos con el más grande y cogemos todos los boids en ese radio.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Luego usaremos esa lista de boids para iterar en todos los distintos updates (cohesion, separation, alignment)</a:t>
            </a:r>
            <a:endParaRPr b="0" lang="es-ES" sz="2000" strike="noStrike" u="none">
              <a:solidFill>
                <a:srgbClr val="000000"/>
              </a:solidFill>
              <a:uFillTx/>
              <a:latin typeface="Noto Sans"/>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720000" y="900000"/>
            <a:ext cx="6120000" cy="3441600"/>
          </a:xfrm>
          <a:prstGeom prst="rect">
            <a:avLst/>
          </a:prstGeom>
          <a:ln w="0">
            <a:noFill/>
          </a:ln>
        </p:spPr>
      </p:sp>
      <p:sp>
        <p:nvSpPr>
          <p:cNvPr id="34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se puede ver que hemos añadido un poco de código extra para chequear que los boids que usamos para el alignment están en el radio de alineamiento (lo mismo para el resto) pero por lo demás el algoritmo es el mismo pero sin pedir los boids al controller.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Pedir los boids al controller son aprox. 5ms por 125 boids (en este profiling). Esa parte la hemos dividido por 3, pero los costes extra han aumentado ligeramente porque el número de boids recibidos son más</a:t>
            </a:r>
            <a:endParaRPr b="0" lang="es-ES" sz="2000" strike="noStrike" u="none">
              <a:solidFill>
                <a:srgbClr val="000000"/>
              </a:solidFill>
              <a:uFillTx/>
              <a:latin typeface="Noto Sans"/>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720000" y="900000"/>
            <a:ext cx="6120000" cy="3441600"/>
          </a:xfrm>
          <a:prstGeom prst="rect">
            <a:avLst/>
          </a:prstGeom>
          <a:ln w="0">
            <a:noFill/>
          </a:ln>
        </p:spPr>
      </p:sp>
      <p:sp>
        <p:nvSpPr>
          <p:cNvPr id="34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podemos ver el profiling (en mi workstation) y podemos ver cómo algo tan simple ha mejorado enormemente la performance para 125 boids.</a:t>
            </a:r>
            <a:endParaRPr b="0" lang="es-ES" sz="2000" strike="noStrike" u="none">
              <a:solidFill>
                <a:srgbClr val="000000"/>
              </a:solidFill>
              <a:uFillTx/>
              <a:latin typeface="Noto Sans"/>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720000" y="900000"/>
            <a:ext cx="6120000" cy="3441600"/>
          </a:xfrm>
          <a:prstGeom prst="rect">
            <a:avLst/>
          </a:prstGeom>
          <a:ln w="0">
            <a:noFill/>
          </a:ln>
        </p:spPr>
      </p:sp>
      <p:sp>
        <p:nvSpPr>
          <p:cNvPr id="349" name="PlaceHolder 2"/>
          <p:cNvSpPr>
            <a:spLocks noGrp="1"/>
          </p:cNvSpPr>
          <p:nvPr>
            <p:ph type="body"/>
          </p:nvPr>
        </p:nvSpPr>
        <p:spPr>
          <a:xfrm>
            <a:off x="720000" y="4680000"/>
            <a:ext cx="6120000" cy="59061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Al final hemos dividido el coste de pedir los boids entre 3, pero al haber mantenido o aumentado ligeramente el resto de costes al final el resultado es un ~50-55% de mejora (que no está nada mal teniendo en cuenta que el coste de hacerlo fue mínimo en cuanto a código)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Por otro lado al haber sacado la lista a la clase (y haber re-escrito la función de listar los boids a X distancia) ha tenido el side effect de eliminar las ‘alocaciones’ de memoria casi por completo.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Eliminar los memory allocations es muy importante porque reduce enormemente las veces que se lanzará el Garbage Collector.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Se puede comentar qué cosas se tienen que mirar para minimizar los memory allocations: strings, listas, LINQ, además de cosas obvias  (creación de objetos, etc)</a:t>
            </a:r>
            <a:endParaRPr b="0" lang="es-ES" sz="2000" strike="noStrike" u="none">
              <a:solidFill>
                <a:srgbClr val="000000"/>
              </a:solidFill>
              <a:uFillTx/>
              <a:latin typeface="Noto Sans"/>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720000" y="900000"/>
            <a:ext cx="6120000" cy="3441600"/>
          </a:xfrm>
          <a:prstGeom prst="rect">
            <a:avLst/>
          </a:prstGeom>
          <a:ln w="0">
            <a:noFill/>
          </a:ln>
        </p:spPr>
      </p:sp>
      <p:sp>
        <p:nvSpPr>
          <p:cNvPr id="35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Vamos a intentar reducir el coste de requerir los boids cercanos. Lo más obvio es usar una estructura de datos de división espacial que nos permita reducir enormemente la cantidad de boids a los que le preguntamos si están cerca o no.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Este tipo de estructuras son muy comunes en videojuegos y se usan para diferentes funciones. Normalmente para decidir qué renderizar, pero también en física (super importantes ahí), IA (como en el ejemplo que estamos viendo), para ciertos temas de lógica (pensad en mapas que representen información), etc.</a:t>
            </a:r>
            <a:endParaRPr b="0" lang="es-ES" sz="2000" strike="noStrike" u="none">
              <a:solidFill>
                <a:srgbClr val="000000"/>
              </a:solidFill>
              <a:uFillTx/>
              <a:latin typeface="Noto Sans"/>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720000" y="900000"/>
            <a:ext cx="6120000" cy="3441600"/>
          </a:xfrm>
          <a:prstGeom prst="rect">
            <a:avLst/>
          </a:prstGeom>
          <a:ln w="0">
            <a:noFill/>
          </a:ln>
        </p:spPr>
      </p:sp>
      <p:sp>
        <p:nvSpPr>
          <p:cNvPr id="35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Creo que es interesante comentar, aunque sea de pasada, algunas de las estructuras de datos más comunes usadas en videojuegos para división espacial.</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También podríamos comentar, aunque sea sólo por curiosidad, que, especialmente en juegos antiguos, se usaban otro tipo de estructuras de datos:</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Portales (en FPS)</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Nodos (en juegos de carreras)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Seguro que hay más pero ahora no caigo en ninguna otra.</a:t>
            </a:r>
            <a:endParaRPr b="0" lang="es-ES" sz="2000" strike="noStrike" u="none">
              <a:solidFill>
                <a:srgbClr val="000000"/>
              </a:solidFill>
              <a:uFillTx/>
              <a:latin typeface="Noto Sans"/>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720000" y="900000"/>
            <a:ext cx="6120000" cy="3441600"/>
          </a:xfrm>
          <a:prstGeom prst="rect">
            <a:avLst/>
          </a:prstGeom>
          <a:ln w="0">
            <a:noFill/>
          </a:ln>
        </p:spPr>
      </p:sp>
      <p:sp>
        <p:nvSpPr>
          <p:cNvPr id="35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Explicar muy de alto nivel los Quad-Trees/Oct-Trees</a:t>
            </a:r>
            <a:endParaRPr b="0" lang="es-ES" sz="2000" strike="noStrike" u="none">
              <a:solidFill>
                <a:srgbClr val="000000"/>
              </a:solidFill>
              <a:uFillTx/>
              <a:latin typeface="Noto Sans"/>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720000" y="900000"/>
            <a:ext cx="6120000" cy="3441600"/>
          </a:xfrm>
          <a:prstGeom prst="rect">
            <a:avLst/>
          </a:prstGeom>
          <a:ln w="0">
            <a:noFill/>
          </a:ln>
        </p:spPr>
      </p:sp>
      <p:sp>
        <p:nvSpPr>
          <p:cNvPr id="35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Explicar muy de alto nivel los KD Trees, y comentar que son normalmente más usados que los Quad-trees porque se adaptan mejor a la distribución de la escena (que no suele ser uniforme)</a:t>
            </a:r>
            <a:endParaRPr b="0" lang="es-ES" sz="2000" strike="noStrike" u="none">
              <a:solidFill>
                <a:srgbClr val="000000"/>
              </a:solidFill>
              <a:uFillTx/>
              <a:latin typeface="Noto Sans"/>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720000" y="900000"/>
            <a:ext cx="6120000" cy="3441600"/>
          </a:xfrm>
          <a:prstGeom prst="rect">
            <a:avLst/>
          </a:prstGeom>
          <a:ln w="0">
            <a:noFill/>
          </a:ln>
        </p:spPr>
      </p:sp>
      <p:sp>
        <p:nvSpPr>
          <p:cNvPr id="35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Esta es probablemente la estructura de datos más sencilla pero aún así es muy útil y la más eficiente. Por cierto, muy usada en diversos tipos de juegos (los que van por casillas literalmente te presentan esta distribución!)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coste de acceder a una celda es O(1), tanto para añadir un elemento como para preguntar qué elementos tiene.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Eso hace que re-crear/modifiar esta estructura sea razonablemente rápido y fácil (cosa que es necesaria en nuestro caso dado que los boids están moviéndose constantemente).</a:t>
            </a:r>
            <a:endParaRPr b="0" lang="es-ES" sz="2000" strike="noStrike" u="none">
              <a:solidFill>
                <a:srgbClr val="000000"/>
              </a:solidFill>
              <a:uFillTx/>
              <a:latin typeface="Noto Sans"/>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720000" y="900000"/>
            <a:ext cx="6120000" cy="3441600"/>
          </a:xfrm>
          <a:prstGeom prst="rect">
            <a:avLst/>
          </a:prstGeom>
          <a:ln w="0">
            <a:noFill/>
          </a:ln>
        </p:spPr>
      </p:sp>
      <p:sp>
        <p:nvSpPr>
          <p:cNvPr id="36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Vamos a diseñar un grid que podamos usar para reducir enormemente la cantidad de chequeos que hacemos para cada boid. Haremos una implementación sencilla y rápida.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Vamos a usar lazy evaluation para regenerar el grid sólo cuando sea necesario.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Comentar anécdota de cómo funciona el transform de Unity y cómo en Toy Tactics se ‘precalculaban’ para tenerlos en ‘local’ y cómo eso en última instancia era peor para performance.</a:t>
            </a:r>
            <a:endParaRPr b="0" lang="es-ES" sz="2000" strike="noStrike" u="none">
              <a:solidFill>
                <a:srgbClr val="000000"/>
              </a:solidFill>
              <a:uFillTx/>
              <a:latin typeface="Noto Sans"/>
            </a:endParaRPr>
          </a:p>
          <a:p>
            <a:pPr marL="216000" indent="-216000">
              <a:buNone/>
            </a:pPr>
            <a:endParaRPr b="0" lang="es-ES" sz="2000" strike="noStrike" u="none">
              <a:solidFill>
                <a:srgbClr val="000000"/>
              </a:solidFill>
              <a:uFillTx/>
              <a:latin typeface="Noto Sans"/>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720000" y="900000"/>
            <a:ext cx="6120000" cy="3441600"/>
          </a:xfrm>
          <a:prstGeom prst="rect">
            <a:avLst/>
          </a:prstGeom>
          <a:ln w="0">
            <a:noFill/>
          </a:ln>
        </p:spPr>
      </p:sp>
      <p:sp>
        <p:nvSpPr>
          <p:cNvPr id="36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podemos revisar un poco el código en Visual Studio y explicarlo brevemente. No es nada especialmente complejo.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Explicar que he implementado 2 versiones de los boids, uno que reutilice los boids y otro que los calcule para cada update.</a:t>
            </a:r>
            <a:endParaRPr b="0" lang="es-ES" sz="2000" strike="noStrike" u="none">
              <a:solidFill>
                <a:srgbClr val="000000"/>
              </a:solidFill>
              <a:uFillTx/>
              <a:latin typeface="Noto Sans"/>
            </a:endParaRPr>
          </a:p>
          <a:p>
            <a:pPr marL="216000" indent="-216000">
              <a:buNone/>
            </a:pPr>
            <a:endParaRPr b="0" lang="es-ES" sz="2000" strike="noStrike" u="none">
              <a:solidFill>
                <a:srgbClr val="000000"/>
              </a:solidFill>
              <a:uFillTx/>
              <a:latin typeface="Noto Sans"/>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720000" y="900000"/>
            <a:ext cx="6120000" cy="3441600"/>
          </a:xfrm>
          <a:prstGeom prst="rect">
            <a:avLst/>
          </a:prstGeom>
          <a:ln w="0">
            <a:noFill/>
          </a:ln>
        </p:spPr>
      </p:sp>
      <p:sp>
        <p:nvSpPr>
          <p:cNvPr id="36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resultado de la implementación del grid es una mejora enorme del performance, pudiendo subir a tener casi 300 boids (desde los 100-125 que teníamos antes en la nueva implementación) a un framerate razonable… hasta que se apelotonan (que es algo que tienden a hacer)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Esto es normal y esperable por el tipo de mejora que hemos realizado: tenemos un grid y sólo miramos los boids que están en las celdas cercanas pero si hay muchos de esos boids pues el coste será alto.</a:t>
            </a:r>
            <a:endParaRPr b="0" lang="es-ES" sz="2000" strike="noStrike" u="none">
              <a:solidFill>
                <a:srgbClr val="000000"/>
              </a:solidFill>
              <a:uFillTx/>
              <a:latin typeface="Noto Sans"/>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720000" y="900000"/>
            <a:ext cx="6120000" cy="3441600"/>
          </a:xfrm>
          <a:prstGeom prst="rect">
            <a:avLst/>
          </a:prstGeom>
          <a:ln w="0">
            <a:noFill/>
          </a:ln>
        </p:spPr>
      </p:sp>
      <p:sp>
        <p:nvSpPr>
          <p:cNvPr id="36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En todo caso está claro que hemos mejorado mucho la performance (pudiendo meter el doble de boids que en un algoritmo que es O(N²) es algo bastante notable)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La diferencia entre reusar y no reusar los boids no es enorme pero continua siendo mejor reusarlos (no lo tenía muy claro antes de probarlo)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todo caso, es obvio que podemos continuar buscando cosas para mejorar la performance en gran medida con relativamente poco trabajo.</a:t>
            </a:r>
            <a:endParaRPr b="0" lang="es-ES" sz="2000" strike="noStrike" u="none">
              <a:solidFill>
                <a:srgbClr val="000000"/>
              </a:solidFill>
              <a:uFillTx/>
              <a:latin typeface="Noto Sans"/>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720000" y="900000"/>
            <a:ext cx="6120000" cy="3441600"/>
          </a:xfrm>
          <a:prstGeom prst="rect">
            <a:avLst/>
          </a:prstGeom>
          <a:ln w="0">
            <a:noFill/>
          </a:ln>
        </p:spPr>
      </p:sp>
      <p:sp>
        <p:nvSpPr>
          <p:cNvPr id="36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Tenemos que evaluar qué cosas podemos ir usando para mejorar el performance del proyecto.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Añadir información de debug y logs suele ser bastante útil para encontrar ‘puntos débiles’ donde poder mejorar.</a:t>
            </a:r>
            <a:endParaRPr b="0" lang="es-ES" sz="2000" strike="noStrike" u="none">
              <a:solidFill>
                <a:srgbClr val="000000"/>
              </a:solidFill>
              <a:uFillTx/>
              <a:latin typeface="Noto Sans"/>
            </a:endParaRPr>
          </a:p>
          <a:p>
            <a:pPr marL="216000" indent="-216000">
              <a:buNone/>
            </a:pPr>
            <a:endParaRPr b="0" lang="es-ES" sz="2000" strike="noStrike" u="none">
              <a:solidFill>
                <a:srgbClr val="000000"/>
              </a:solidFill>
              <a:uFillTx/>
              <a:latin typeface="Noto Sans"/>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720000" y="900000"/>
            <a:ext cx="6120000" cy="3441600"/>
          </a:xfrm>
          <a:prstGeom prst="rect">
            <a:avLst/>
          </a:prstGeom>
          <a:ln w="0">
            <a:noFill/>
          </a:ln>
        </p:spPr>
      </p:sp>
      <p:sp>
        <p:nvSpPr>
          <p:cNvPr id="37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Una de las primeras cosas que se ve claramente al desarrollar el grid es que estamos calculando la distancia 2 veces (cuando re-usamos los boids entre todos los updates). Podríamos calcularlo en el grid y devolverlo, no?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Hacer esto nos ayuda a mejorar el framerate bastante y a coste nulo. Llegamos a los 500 boids a bastante buen framerate (al menos al principio)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Mostrar el código que hace esto y ver que ha sido un cambio menor que genera un efecto bastante importante</a:t>
            </a:r>
            <a:endParaRPr b="0" lang="es-ES" sz="2000" strike="noStrike" u="none">
              <a:solidFill>
                <a:srgbClr val="000000"/>
              </a:solidFill>
              <a:uFillTx/>
              <a:latin typeface="Noto Sans"/>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720000" y="900000"/>
            <a:ext cx="6120000" cy="3441600"/>
          </a:xfrm>
          <a:prstGeom prst="rect">
            <a:avLst/>
          </a:prstGeom>
          <a:ln w="0">
            <a:noFill/>
          </a:ln>
        </p:spPr>
      </p:sp>
      <p:sp>
        <p:nvSpPr>
          <p:cNvPr id="37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siguiente punto que es obvio que debemos abordar es el hecho de que cuando se juntan mucho los boids la performance sufre de forma relevante.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Podemos limitar cuántos boids nos devuelve la función que nos busca los boids alrededor de un punto.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Esto nos permitirá terminar antes si hemos llegado al número que buscábamos.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Por otro lado, esto nos obliga a devolver sólo los más cercanos (podemos devolverlos ordenados).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Esto aumenta considerablemente la complejidad del algoritmo de búsqueda pero puede ayudar a solucionar el problema que tenemos.</a:t>
            </a:r>
            <a:endParaRPr b="0" lang="es-ES" sz="2000" strike="noStrike" u="none">
              <a:solidFill>
                <a:srgbClr val="000000"/>
              </a:solidFill>
              <a:uFillTx/>
              <a:latin typeface="Noto Sans"/>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720000" y="900000"/>
            <a:ext cx="6120000" cy="3441600"/>
          </a:xfrm>
          <a:prstGeom prst="rect">
            <a:avLst/>
          </a:prstGeom>
          <a:ln w="0">
            <a:noFill/>
          </a:ln>
        </p:spPr>
      </p:sp>
      <p:sp>
        <p:nvSpPr>
          <p:cNvPr id="37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podemos ir al código a explicar cómo primero cogemos todas las celdas, calculamos su distancia y, si son válidas (tienen algún boid y están dentro del radio) las metemos en una lista que luego ordenamos.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Podemos aprovechar aquí para hablar de porqué normalmente es considerablemente más eficiente usar distancia al cuadrado en vez de distancia.</a:t>
            </a:r>
            <a:endParaRPr b="0" lang="es-ES" sz="2000" strike="noStrike" u="none">
              <a:solidFill>
                <a:srgbClr val="000000"/>
              </a:solidFill>
              <a:uFillTx/>
              <a:latin typeface="Noto Sans"/>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720000" y="900000"/>
            <a:ext cx="6120000" cy="3441600"/>
          </a:xfrm>
          <a:prstGeom prst="rect">
            <a:avLst/>
          </a:prstGeom>
          <a:ln w="0">
            <a:noFill/>
          </a:ln>
        </p:spPr>
      </p:sp>
      <p:sp>
        <p:nvSpPr>
          <p:cNvPr id="37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Continuamos con el código. Aquí está (parte de) la parte que devuelve los boids cercanos ordenados. La parte más compleja es la parte de la inserción… que quizá podría mejorar:</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Evitando mantener la lista ordenada</a:t>
            </a:r>
            <a:endParaRPr b="0" lang="es-ES" sz="2000" strike="noStrike" u="none">
              <a:solidFill>
                <a:srgbClr val="000000"/>
              </a:solidFill>
              <a:uFillTx/>
              <a:latin typeface="Noto Sans"/>
            </a:endParaRPr>
          </a:p>
          <a:p>
            <a:pPr lvl="1" marL="216000" indent="-216000">
              <a:buClr>
                <a:srgbClr val="000000"/>
              </a:buClr>
              <a:buSzPct val="45000"/>
              <a:buFont typeface="Wingdings" charset="2"/>
              <a:buChar char=""/>
            </a:pPr>
            <a:r>
              <a:rPr b="0" lang="es-ES" sz="2000" strike="noStrike" u="none">
                <a:solidFill>
                  <a:srgbClr val="000000"/>
                </a:solidFill>
                <a:uFillTx/>
                <a:latin typeface="Noto Sans"/>
              </a:rPr>
              <a:t>Esto tiene sus dificultades y puede que no dé un resultado mucho mejor</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Buscando en orden inverso para aprovechar que es más probable que queramos insertar al final por cómo están ordenadas las celdas</a:t>
            </a:r>
            <a:endParaRPr b="0" lang="es-ES" sz="2000" strike="noStrike" u="none">
              <a:solidFill>
                <a:srgbClr val="000000"/>
              </a:solidFill>
              <a:uFillTx/>
              <a:latin typeface="Noto Sans"/>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720000" y="900000"/>
            <a:ext cx="6120000" cy="3441600"/>
          </a:xfrm>
          <a:prstGeom prst="rect">
            <a:avLst/>
          </a:prstGeom>
          <a:ln w="0">
            <a:noFill/>
          </a:ln>
        </p:spPr>
      </p:sp>
      <p:sp>
        <p:nvSpPr>
          <p:cNvPr id="37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Podemos hacer profiling de la aplicación en directo y ver cómo se comporta con la nueva implementación.</a:t>
            </a:r>
            <a:endParaRPr b="0" lang="es-ES" sz="2000" strike="noStrike" u="none">
              <a:solidFill>
                <a:srgbClr val="000000"/>
              </a:solidFill>
              <a:uFillTx/>
              <a:latin typeface="Noto Sans"/>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720000" y="900000"/>
            <a:ext cx="6120000" cy="3441600"/>
          </a:xfrm>
          <a:prstGeom prst="rect">
            <a:avLst/>
          </a:prstGeom>
          <a:ln w="0">
            <a:noFill/>
          </a:ln>
        </p:spPr>
      </p:sp>
      <p:sp>
        <p:nvSpPr>
          <p:cNvPr id="38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Los resultados que obtenemos al principio pueden parecer pobres: hemos reducido el framerate ya que el coste de encontrar los boids cercanos es mayor.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Sin embargo conforme la simulación continua podemos observar que el número medio de boids consultados se mantiene bajo y que el framerate no decae de forma drástica (como antes sí lo hacía)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Además, este algoritmo nos permite ajustar todavía más cuántos boids queremos consultar para poder mejorar el framerate (aunque obviamente esto tiene un coste en cuanto a ‘accuracy’ del algoritmo)</a:t>
            </a:r>
            <a:endParaRPr b="0" lang="es-ES" sz="2000" strike="noStrike" u="none">
              <a:solidFill>
                <a:srgbClr val="000000"/>
              </a:solidFill>
              <a:uFillTx/>
              <a:latin typeface="Noto Sans"/>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720000" y="900000"/>
            <a:ext cx="6120000" cy="3441600"/>
          </a:xfrm>
          <a:prstGeom prst="rect">
            <a:avLst/>
          </a:prstGeom>
          <a:ln w="0">
            <a:noFill/>
          </a:ln>
        </p:spPr>
      </p:sp>
      <p:sp>
        <p:nvSpPr>
          <p:cNvPr id="38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Un listado de cosas generales que comentar que pueden ser útiles a la hora de optimizar (o escribir código).</a:t>
            </a:r>
            <a:endParaRPr b="0" lang="es-ES" sz="2000" strike="noStrike" u="none">
              <a:solidFill>
                <a:srgbClr val="000000"/>
              </a:solidFill>
              <a:uFillTx/>
              <a:latin typeface="Noto Sans"/>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720000" y="900000"/>
            <a:ext cx="6120000" cy="3441600"/>
          </a:xfrm>
          <a:prstGeom prst="rect">
            <a:avLst/>
          </a:prstGeom>
          <a:ln w="0">
            <a:noFill/>
          </a:ln>
        </p:spPr>
      </p:sp>
      <p:sp>
        <p:nvSpPr>
          <p:cNvPr id="38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Más tips</a:t>
            </a:r>
            <a:endParaRPr b="0" lang="es-ES" sz="2000" strike="noStrike" u="none">
              <a:solidFill>
                <a:srgbClr val="000000"/>
              </a:solidFill>
              <a:uFillTx/>
              <a:latin typeface="Noto Sans"/>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720000" y="900000"/>
            <a:ext cx="6120000" cy="3441600"/>
          </a:xfrm>
          <a:prstGeom prst="rect">
            <a:avLst/>
          </a:prstGeom>
          <a:ln w="0">
            <a:noFill/>
          </a:ln>
        </p:spPr>
      </p:sp>
      <p:sp>
        <p:nvSpPr>
          <p:cNvPr id="387" name="PlaceHolder 2"/>
          <p:cNvSpPr>
            <a:spLocks noGrp="1"/>
          </p:cNvSpPr>
          <p:nvPr>
            <p:ph type="body"/>
          </p:nvPr>
        </p:nvSpPr>
        <p:spPr>
          <a:xfrm>
            <a:off x="720000" y="4680000"/>
            <a:ext cx="6120000" cy="6948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Lo primero a tener en cuenta es que el código más rápido es el que no se ejecuta. Parece una obviedad pero es importante tenerlo en cuenta.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Se puede comentar los casos que me ocurrieron durante el desarrollo de este seminario: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No había quitado la colisión de la parte visual del boid y se estaba recalculando la escena física cada tick!</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el algoritmo que busca los boids alrededor de un punto (y dentro de un radio) estaba calculando la distancia a una celda e iterando por todos los boids que tiene dentro incluso cuando no tenía ninguno. Iterar sobre 0 boids no es muy costoso pero calcular la distancia tiene un cierto coste. Ambas cosas aumentaban más en el caso de luego tener que ordenar las celdas. Símplemente añadiendo un if delante de forma que las celdas vacías son ignoradas aumentó la performance de este algoritmo hasta un 20-25% (en el mejor de los casos)</a:t>
            </a:r>
            <a:endParaRPr b="0" lang="es-ES" sz="2000" strike="noStrike" u="none">
              <a:solidFill>
                <a:srgbClr val="000000"/>
              </a:solidFill>
              <a:uFillTx/>
              <a:latin typeface="Noto Sans"/>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720000" y="900000"/>
            <a:ext cx="6120000" cy="3441600"/>
          </a:xfrm>
          <a:prstGeom prst="rect">
            <a:avLst/>
          </a:prstGeom>
          <a:ln w="0">
            <a:noFill/>
          </a:ln>
        </p:spPr>
      </p:sp>
      <p:sp>
        <p:nvSpPr>
          <p:cNvPr id="389" name="PlaceHolder 2"/>
          <p:cNvSpPr>
            <a:spLocks noGrp="1"/>
          </p:cNvSpPr>
          <p:nvPr>
            <p:ph type="body"/>
          </p:nvPr>
        </p:nvSpPr>
        <p:spPr>
          <a:xfrm>
            <a:off x="720000" y="4680000"/>
            <a:ext cx="6120000" cy="5211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puedo explicar qué ventajas e inconvenientes tiene el inlining y cómo funciona.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Probablemente sea un buen sitio para mencionar que copy-pastear el código no sólo es una guarrada sino tb una mala praxis de programación.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Esto es algo que en C++ llega a ser bastante relevante pero en C#, debido al JIT y efectos similares yo creo que no lo es tanto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Se puede usar la propiedad MethodImpl() para darle al compilador pistas de qué funciones intentar inlinear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Comentar las pruebas, que han sido decepcionantes, pero quizá otro hardware se vería más afectado (móviles, Switch, etc)</a:t>
            </a:r>
            <a:endParaRPr b="0" lang="es-ES" sz="2000" strike="noStrike" u="none">
              <a:solidFill>
                <a:srgbClr val="000000"/>
              </a:solidFill>
              <a:uFillTx/>
              <a:latin typeface="Noto Sans"/>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720000" y="900000"/>
            <a:ext cx="6120000" cy="3441600"/>
          </a:xfrm>
          <a:prstGeom prst="rect">
            <a:avLst/>
          </a:prstGeom>
          <a:ln w="0">
            <a:noFill/>
          </a:ln>
        </p:spPr>
      </p:sp>
      <p:sp>
        <p:nvSpPr>
          <p:cNvPr id="391" name="PlaceHolder 2"/>
          <p:cNvSpPr>
            <a:spLocks noGrp="1"/>
          </p:cNvSpPr>
          <p:nvPr>
            <p:ph type="body"/>
          </p:nvPr>
        </p:nvSpPr>
        <p:spPr>
          <a:xfrm>
            <a:off x="720000" y="4680000"/>
            <a:ext cx="6120000" cy="5211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En C# no hay que preocuparse de la memoria (allocations/deallocations)… o sí?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Si entra el garbage collector a liberar memoria se crean ‘hipos’ que pausan el juego momentáneamente y que son bastante poco agradables.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Para evitar esto se pueden hacer cosas como reutilizar listas (y en algunos casos strings) poniéndolas como atributos en vez de variables locales, usando pools, etc.</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puedo explicar con un ejemplo práctico del proyecto cómo varía la memoria usada con el uso de listas compartidas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También se puede explicar qué son y cómo se usan las pools.</a:t>
            </a:r>
            <a:endParaRPr b="0" lang="es-ES" sz="2000" strike="noStrike" u="none">
              <a:solidFill>
                <a:srgbClr val="000000"/>
              </a:solidFill>
              <a:uFillTx/>
              <a:latin typeface="Noto Sans"/>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720000" y="900000"/>
            <a:ext cx="6120000" cy="3441600"/>
          </a:xfrm>
          <a:prstGeom prst="rect">
            <a:avLst/>
          </a:prstGeom>
          <a:ln w="0">
            <a:noFill/>
          </a:ln>
        </p:spPr>
      </p:sp>
      <p:sp>
        <p:nvSpPr>
          <p:cNvPr id="393" name="PlaceHolder 2"/>
          <p:cNvSpPr>
            <a:spLocks noGrp="1"/>
          </p:cNvSpPr>
          <p:nvPr>
            <p:ph type="body"/>
          </p:nvPr>
        </p:nvSpPr>
        <p:spPr>
          <a:xfrm>
            <a:off x="720000" y="4680000"/>
            <a:ext cx="6120000" cy="5211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Las bibliotecas oficiales de C# ofrecen métodos para realizar operaciones comunes que, en general, querremos favorecer respecto a implementaciones propias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Hay 3 causas principalmente:</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Suelen estar muy optimizados, usando los mejores algoritmos para esa tarea (Sort, Find, etc)</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Además, en muchos casos tienen una implementación ‘nativa’ (en C++) que está especialmente optimizada a bajo nivel</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Por último, en algunos casos hacen uso de operaciones de bajo nivel dependientes del hardware (en operaciones matemáticas el uso de SIMD o similar)</a:t>
            </a:r>
            <a:endParaRPr b="0" lang="es-ES" sz="2000" strike="noStrike" u="none">
              <a:solidFill>
                <a:srgbClr val="000000"/>
              </a:solidFill>
              <a:uFillTx/>
              <a:latin typeface="Noto Sans"/>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720000" y="900000"/>
            <a:ext cx="6120000" cy="3441600"/>
          </a:xfrm>
          <a:prstGeom prst="rect">
            <a:avLst/>
          </a:prstGeom>
          <a:ln w="0">
            <a:noFill/>
          </a:ln>
        </p:spPr>
      </p:sp>
      <p:sp>
        <p:nvSpPr>
          <p:cNvPr id="395" name="PlaceHolder 2"/>
          <p:cNvSpPr>
            <a:spLocks noGrp="1"/>
          </p:cNvSpPr>
          <p:nvPr>
            <p:ph type="body"/>
          </p:nvPr>
        </p:nvSpPr>
        <p:spPr>
          <a:xfrm>
            <a:off x="720000" y="4680000"/>
            <a:ext cx="6120000" cy="59061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En Unity un error muy común es usar FindFirstObjectByType o similares en Update (o funciones que se llaman en un update). Esto es un error mayúsculo en cuanto a performance.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Si uno tiene que usar algo así que sea únicamente en la inicialización. En cualquier otro caso hay mejores alternativas: usar eventos o llamar a funciones para notificar la creación y así poder guardar una referencia al objeto, por ejemplo.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GetComponent no es tan malo ni de lejos pero si podemos evitarlo, pues mejor hacerlo. En última instancia es una llamada a función (que no creo que pueda meterse inline) y por tanto más caro que un acceso a una variable local.</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Comentar la opción de tener un ‘ObjectTracker’ (un diccionario estático con los objetos importantes de la escena)</a:t>
            </a:r>
            <a:endParaRPr b="0" lang="es-ES" sz="2000" strike="noStrike" u="none">
              <a:solidFill>
                <a:srgbClr val="000000"/>
              </a:solidFill>
              <a:uFillTx/>
              <a:latin typeface="Noto Sans"/>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720000" y="900000"/>
            <a:ext cx="6120000" cy="3441600"/>
          </a:xfrm>
          <a:prstGeom prst="rect">
            <a:avLst/>
          </a:prstGeom>
          <a:ln w="0">
            <a:noFill/>
          </a:ln>
        </p:spPr>
      </p:sp>
      <p:sp>
        <p:nvSpPr>
          <p:cNvPr id="39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En general las propiedades de C# no son un problema. C# optimizará el código para tratarlas como variables en muchos casos.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todo caso, no está de más recordar que no son más que una función y, por tanto, se tratarán como tal en algunos casos, con el coste que esto tiene.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Aquí puede ser un buen momento para explicar cómo funciona una llamada a función en ensamblador.</a:t>
            </a:r>
            <a:endParaRPr b="0" lang="es-ES" sz="2000" strike="noStrike" u="none">
              <a:solidFill>
                <a:srgbClr val="000000"/>
              </a:solidFill>
              <a:uFillTx/>
              <a:latin typeface="Noto Sans"/>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720000" y="900000"/>
            <a:ext cx="6120000" cy="3441600"/>
          </a:xfrm>
          <a:prstGeom prst="rect">
            <a:avLst/>
          </a:prstGeom>
          <a:ln w="0">
            <a:noFill/>
          </a:ln>
        </p:spPr>
      </p:sp>
      <p:sp>
        <p:nvSpPr>
          <p:cNvPr id="39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Los logs pueden distorsionar mucho un profiling y suelen tener un coste importante.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Son herramientas muy útiles pero hay que asegurarse que en versiones finales no se usan y, además, que no supongan un coste cuando no se usan.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Hay versiones ‘Format’ de los logs que suelen ser interesantes para evitar costes ocultos de tener un log:</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Debug.LogFormat(“We’ve {0} items”, numItems);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Vs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Debug.Log($”We’ve {numItems} items”);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segundo va a realizar operaciones incluso cuando no se muestre el log</a:t>
            </a:r>
            <a:endParaRPr b="0" lang="es-ES" sz="2000" strike="noStrike" u="none">
              <a:solidFill>
                <a:srgbClr val="000000"/>
              </a:solidFill>
              <a:uFillTx/>
              <a:latin typeface="Noto Sans"/>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720000" y="900000"/>
            <a:ext cx="6120000" cy="3441600"/>
          </a:xfrm>
          <a:prstGeom prst="rect">
            <a:avLst/>
          </a:prstGeom>
          <a:ln w="0">
            <a:noFill/>
          </a:ln>
        </p:spPr>
      </p:sp>
      <p:sp>
        <p:nvSpPr>
          <p:cNvPr id="40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Los ifs y los bucles (while, for, etc), se traducen en código ensamblador como branches: el código evalúa una condición y salta a una dirección o no en función del resultado.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Este tipo de instrucciones de ensamblador tienen un coste especialmente alto por cómo funcionan los procesadores actuales (en paralelo)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Explicar aquí brevemente la estructura de un procesador actual y cómo los ‘ifs’ la ‘rompen’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 veces usar más ifs para reducir un poco del código a ejecutar tendrá peor resultado final.</a:t>
            </a:r>
            <a:endParaRPr b="0" lang="es-ES" sz="2000" strike="noStrike" u="none">
              <a:solidFill>
                <a:srgbClr val="000000"/>
              </a:solidFill>
              <a:uFillTx/>
              <a:latin typeface="Noto Sans"/>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720000" y="900000"/>
            <a:ext cx="6120000" cy="3441600"/>
          </a:xfrm>
          <a:prstGeom prst="rect">
            <a:avLst/>
          </a:prstGeom>
          <a:ln w="0">
            <a:noFill/>
          </a:ln>
        </p:spPr>
      </p:sp>
      <p:sp>
        <p:nvSpPr>
          <p:cNvPr id="40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He escuchado en más de una ocasión que los métodos virtuales tienen un impacto importante en performance. En general esto eso falso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Sí es cierto que virtualizar un método hace que sea más difícil optimizarlo en algunos casos (ie inlining)</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Explicar cómo funciona internamente los métodos virtuales (la virtual method table) y cómo esto apenas añade coste</a:t>
            </a:r>
            <a:endParaRPr b="0" lang="es-ES" sz="2000" strike="noStrike" u="none">
              <a:solidFill>
                <a:srgbClr val="000000"/>
              </a:solidFill>
              <a:uFillTx/>
              <a:latin typeface="Noto Sans"/>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720000" y="900000"/>
            <a:ext cx="6120000" cy="3441600"/>
          </a:xfrm>
          <a:prstGeom prst="rect">
            <a:avLst/>
          </a:prstGeom>
          <a:ln w="0">
            <a:noFill/>
          </a:ln>
        </p:spPr>
      </p:sp>
      <p:sp>
        <p:nvSpPr>
          <p:cNvPr id="40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Explicar aquí cómo funciona en ensamblador el paso de parámetros a una función.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el caso de los parámetros por copia es obvio que puede tener un coste extra si lo que pasamos es una struct grande.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general tampoco hay que obsesionarse con esto y, desde luego, no es buena idea cambiar un struct por class si no es necesario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Los structs tb ayudan a la performance estando en el heap y evitando cache misses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Estamos ya con detalles menores que sólo en casos extremos serán relevantes.</a:t>
            </a:r>
            <a:endParaRPr b="0" lang="es-ES" sz="2000" strike="noStrike" u="none">
              <a:solidFill>
                <a:srgbClr val="000000"/>
              </a:solidFill>
              <a:uFillTx/>
              <a:latin typeface="Noto Sans"/>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720000" y="900000"/>
            <a:ext cx="6120000" cy="3441600"/>
          </a:xfrm>
          <a:prstGeom prst="rect">
            <a:avLst/>
          </a:prstGeom>
          <a:ln w="0">
            <a:noFill/>
          </a:ln>
        </p:spPr>
      </p:sp>
      <p:sp>
        <p:nvSpPr>
          <p:cNvPr id="40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merecería la pena explicar muy por encima cómo funciona la memoria cache y qué son los cache misses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Tener la memoria organizada de tal manera que los valores que se van acceder próximamente están cerca ayuda a minimizar los fallos de cache.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Poner ejemplos sencillos: el acceso en orden a un array es, en general, más optimo que si no se hace así (el ejemplo de una imagen que se recorre en y y dentro en x y al revés puede servir para ilustrar este concepto fácilmente)</a:t>
            </a:r>
            <a:endParaRPr b="0" lang="es-ES" sz="2000" strike="noStrike" u="none">
              <a:solidFill>
                <a:srgbClr val="000000"/>
              </a:solidFill>
              <a:uFillTx/>
              <a:latin typeface="Noto Sans"/>
            </a:endParaRPr>
          </a:p>
          <a:p>
            <a:pPr marL="216000" indent="-216000">
              <a:buNone/>
            </a:pPr>
            <a:endParaRPr b="0" lang="es-ES" sz="2000" strike="noStrike" u="none">
              <a:solidFill>
                <a:srgbClr val="000000"/>
              </a:solidFill>
              <a:uFillTx/>
              <a:latin typeface="Noto Sans"/>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720000" y="900000"/>
            <a:ext cx="6120000" cy="3441600"/>
          </a:xfrm>
          <a:prstGeom prst="rect">
            <a:avLst/>
          </a:prstGeom>
          <a:ln w="0">
            <a:noFill/>
          </a:ln>
        </p:spPr>
      </p:sp>
      <p:sp>
        <p:nvSpPr>
          <p:cNvPr id="40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Es importante tener en cuenta que este tipo de problemas, por su naturaleza, sólo son relevantes cuando estamos tratando grandes cantidades de datos. Para conjuntos pequeños todo esto es irrelevante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No nos volvamos locos con este tema.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 interesante observar que ECS en Unity está montado sobre esta idea (la de minimizar fallos de cache) entre otras y que está especialmente diseñado para que pienses en este tipo de cosas cuando diseñas el código.</a:t>
            </a:r>
            <a:endParaRPr b="0" lang="es-ES" sz="2000" strike="noStrike" u="none">
              <a:solidFill>
                <a:srgbClr val="000000"/>
              </a:solidFill>
              <a:uFillTx/>
              <a:latin typeface="Noto Sans"/>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720000" y="900000"/>
            <a:ext cx="6120000" cy="3441600"/>
          </a:xfrm>
          <a:prstGeom prst="rect">
            <a:avLst/>
          </a:prstGeom>
          <a:ln w="0">
            <a:noFill/>
          </a:ln>
        </p:spPr>
      </p:sp>
      <p:sp>
        <p:nvSpPr>
          <p:cNvPr id="41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memory profiler de Unity está muy bien y es bastante completo. No viene por defecto sino que es necesario instalarlo con el package manager.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Desde el profiler, en la parte de memoria se puede acceder directametne.</a:t>
            </a:r>
            <a:endParaRPr b="0" lang="es-ES" sz="2000" strike="noStrike" u="none">
              <a:solidFill>
                <a:srgbClr val="000000"/>
              </a:solidFill>
              <a:uFillTx/>
              <a:latin typeface="Noto Sans"/>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720000" y="900000"/>
            <a:ext cx="6120000" cy="3441600"/>
          </a:xfrm>
          <a:prstGeom prst="rect">
            <a:avLst/>
          </a:prstGeom>
          <a:ln w="0">
            <a:noFill/>
          </a:ln>
        </p:spPr>
      </p:sp>
      <p:sp>
        <p:nvSpPr>
          <p:cNvPr id="41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Mostrar en Unity como abrir el memory profiler ya que la info que viene en el profiler normal no es muy extensa y sirve únicamente para hacerse una idea grosso modo de qué puede estar ocupando más.</a:t>
            </a:r>
            <a:endParaRPr b="0" lang="es-ES" sz="2000" strike="noStrike" u="none">
              <a:solidFill>
                <a:srgbClr val="000000"/>
              </a:solidFill>
              <a:uFillTx/>
              <a:latin typeface="Noto Sans"/>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720000" y="900000"/>
            <a:ext cx="6120000" cy="3441600"/>
          </a:xfrm>
          <a:prstGeom prst="rect">
            <a:avLst/>
          </a:prstGeom>
          <a:ln w="0">
            <a:noFill/>
          </a:ln>
        </p:spPr>
      </p:sp>
      <p:sp>
        <p:nvSpPr>
          <p:cNvPr id="41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Hacer un ejemplo de captura en el momento y explicar qué partes tiene.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 particularmente útil el ver las referencias a los objetos que hay en memoria. Esto puede ayudarnos a entender porqué un objeto no sale de memoria.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Quizá comentar aquí la anécdota de las fuentes en Toy Tactics: unas enlazan a otras y me di cuenta de que realmente estaban todas las fuentes (incluidas las de chino, japo, koreano y ruso) en memoria siempre!</a:t>
            </a:r>
            <a:endParaRPr b="0" lang="es-ES" sz="2000" strike="noStrike" u="none">
              <a:solidFill>
                <a:srgbClr val="000000"/>
              </a:solidFill>
              <a:uFillTx/>
              <a:latin typeface="Noto Sans"/>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720000" y="900000"/>
            <a:ext cx="6120000" cy="3441600"/>
          </a:xfrm>
          <a:prstGeom prst="rect">
            <a:avLst/>
          </a:prstGeom>
          <a:ln w="0">
            <a:noFill/>
          </a:ln>
        </p:spPr>
      </p:sp>
      <p:sp>
        <p:nvSpPr>
          <p:cNvPr id="41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 la hora de pensar en optimizar memoria lo primero a tener en cuenta es que, en PC, actualmente, esto es bastante innecesario. Normalmente en PC con el uso de memoria virtual es poco habitual tener problemas de memoria (salvo que se haga alguna salvajada)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consolas la cosa cambia, especialmente en la Switch donde tienes más o menos 3GB de memoria para todo el juego.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móviles tb es importante (pero ahí tengo poquita experiencia)</a:t>
            </a:r>
            <a:endParaRPr b="0" lang="es-ES" sz="2000" strike="noStrike" u="none">
              <a:solidFill>
                <a:srgbClr val="000000"/>
              </a:solidFill>
              <a:uFillTx/>
              <a:latin typeface="Noto Sans"/>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720000" y="900000"/>
            <a:ext cx="6120000" cy="3441600"/>
          </a:xfrm>
          <a:prstGeom prst="rect">
            <a:avLst/>
          </a:prstGeom>
          <a:ln w="0">
            <a:noFill/>
          </a:ln>
        </p:spPr>
      </p:sp>
      <p:sp>
        <p:nvSpPr>
          <p:cNvPr id="419" name="PlaceHolder 2"/>
          <p:cNvSpPr>
            <a:spLocks noGrp="1"/>
          </p:cNvSpPr>
          <p:nvPr>
            <p:ph type="body"/>
          </p:nvPr>
        </p:nvSpPr>
        <p:spPr>
          <a:xfrm>
            <a:off x="720000" y="4680000"/>
            <a:ext cx="6120000" cy="55587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En general lo que más memoria se suele llevar son las texturas.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Aunque las texturas de modelos 3D pueden ser bte gordas (y las del terreno tb), muchas veces se está yendo mucha memoria de forma tonta en texturas de UI, especialmente en las fuentes (y especialmente para chino, japonés, etc)</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Los modelos pueden llevarse bte memoria tb, sobre todo si tenemos muchos modelos de alta poligonalización (con LODs), que obviamente ocupan bte memoria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Los shaders tb ocupan mucho si tienen muchas variantes pre-compiladas. Reducir el número de variantes para adaptarlas a las características del juego es bueno tanto porque ahorra memoria como tiempo de compilación</a:t>
            </a:r>
            <a:endParaRPr b="0" lang="es-ES" sz="2000" strike="noStrike" u="none">
              <a:solidFill>
                <a:srgbClr val="000000"/>
              </a:solidFill>
              <a:uFillTx/>
              <a:latin typeface="Noto Sans"/>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720000" y="900000"/>
            <a:ext cx="6120000" cy="3441600"/>
          </a:xfrm>
          <a:prstGeom prst="rect">
            <a:avLst/>
          </a:prstGeom>
          <a:ln w="0">
            <a:noFill/>
          </a:ln>
        </p:spPr>
      </p:sp>
      <p:sp>
        <p:nvSpPr>
          <p:cNvPr id="421" name="PlaceHolder 2"/>
          <p:cNvSpPr>
            <a:spLocks noGrp="1"/>
          </p:cNvSpPr>
          <p:nvPr>
            <p:ph type="body"/>
          </p:nvPr>
        </p:nvSpPr>
        <p:spPr>
          <a:xfrm>
            <a:off x="720000" y="4680000"/>
            <a:ext cx="6120000" cy="59061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Tips principales: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 más obvio: si algo no lo estás usando no lo mantengas en memoria. Unity se encarga de esto… si no le pones palos en las ruedas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Ten en cuenta que todo lo que esté referenciado (directa o indirectamente) por algo que esté en la escena no puede liberarse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Hay referencias ocultas en prefabs (todo lo que usan), fuentes (fuentes secundarias), etc.</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Addressables permite guardar referencias a addressables en vez de objetos y luego obtener los objetos del addressable (leyéndolos de disco)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Obviamente reducir tamaño de textura es importante</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Contar anécdota de Toy Tactics y el UI: cómo se estaba usando imágenes de 3000x2000 para pequeños botones de 300x150</a:t>
            </a:r>
            <a:endParaRPr b="0" lang="es-ES" sz="2000" strike="noStrike" u="none">
              <a:solidFill>
                <a:srgbClr val="000000"/>
              </a:solidFill>
              <a:uFillTx/>
              <a:latin typeface="Noto Sans"/>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720000" y="900000"/>
            <a:ext cx="6120000" cy="3441600"/>
          </a:xfrm>
          <a:prstGeom prst="rect">
            <a:avLst/>
          </a:prstGeom>
          <a:ln w="0">
            <a:noFill/>
          </a:ln>
        </p:spPr>
      </p:sp>
      <p:sp>
        <p:nvSpPr>
          <p:cNvPr id="42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Antes de nada: yo no soy un experto de esto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 primero a la hora de mirar performance de GPU en Unity suele ser consultar la parte de Rendering del profiler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No es un profiler muy en detalle pero da unos marcadores muy importantes de cosas que son relevantes a la hora de evaluar GPU performance:</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Número de tris y vértices</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Batches</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Llamadas a SetPass</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DrawCalls</a:t>
            </a:r>
            <a:endParaRPr b="0" lang="es-ES" sz="2000" strike="noStrike" u="none">
              <a:solidFill>
                <a:srgbClr val="000000"/>
              </a:solidFill>
              <a:uFillTx/>
              <a:latin typeface="Noto Sans"/>
            </a:endParaRPr>
          </a:p>
          <a:p>
            <a:pPr marL="216000" indent="-216000">
              <a:buClr>
                <a:srgbClr val="000000"/>
              </a:buClr>
              <a:buSzPct val="45000"/>
              <a:buFont typeface="Wingdings" charset="2"/>
              <a:buChar char=""/>
            </a:pPr>
            <a:r>
              <a:rPr b="0" lang="es-ES" sz="2000" strike="noStrike" u="none">
                <a:solidFill>
                  <a:srgbClr val="000000"/>
                </a:solidFill>
                <a:uFillTx/>
                <a:latin typeface="Noto Sans"/>
              </a:rPr>
              <a:t>Número de texturas, Render Textures, buffers (de vértices, índices), etc.</a:t>
            </a:r>
            <a:endParaRPr b="0" lang="es-ES" sz="2000" strike="noStrike" u="none">
              <a:solidFill>
                <a:srgbClr val="000000"/>
              </a:solidFill>
              <a:uFillTx/>
              <a:latin typeface="Noto Sans"/>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720000" y="900000"/>
            <a:ext cx="6120000" cy="3441600"/>
          </a:xfrm>
          <a:prstGeom prst="rect">
            <a:avLst/>
          </a:prstGeom>
          <a:ln w="0">
            <a:noFill/>
          </a:ln>
        </p:spPr>
      </p:sp>
      <p:sp>
        <p:nvSpPr>
          <p:cNvPr id="42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frame debugger, como su propio nombre indica, sirve para depurar shaders y el proceso de rendering. De todos modos hacer esto es muy útil para entender cómo se está renderizando la escena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análisis de un frame puede ayudar a ver cosas que se están renderizando y quizá no querrías renderizar o que se podrían quitar sin apenas cambiar el resultado final.</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Toy Tactics lo usé para entender qué cosas se estaban renderizando y cómo e intentar eliminar elementos que estaban gastando GPU y, sobre todo, CPU en renderizar y apenas se veían (porque estaban lejos)</a:t>
            </a:r>
            <a:endParaRPr b="0" lang="es-ES" sz="2000" strike="noStrike" u="none">
              <a:solidFill>
                <a:srgbClr val="000000"/>
              </a:solidFill>
              <a:uFillTx/>
              <a:latin typeface="Noto Sans"/>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720000" y="900000"/>
            <a:ext cx="6120000" cy="3441600"/>
          </a:xfrm>
          <a:prstGeom prst="rect">
            <a:avLst/>
          </a:prstGeom>
          <a:ln w="0">
            <a:noFill/>
          </a:ln>
        </p:spPr>
      </p:sp>
      <p:sp>
        <p:nvSpPr>
          <p:cNvPr id="42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un ejemplo. Probablemente podemos abrirlo en directo y analizar brevemente un frame si vamos bien de tiempo.</a:t>
            </a:r>
            <a:endParaRPr b="0" lang="es-ES" sz="2000" strike="noStrike" u="none">
              <a:solidFill>
                <a:srgbClr val="000000"/>
              </a:solidFill>
              <a:uFillTx/>
              <a:latin typeface="Noto Sans"/>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720000" y="900000"/>
            <a:ext cx="6120000" cy="3441600"/>
          </a:xfrm>
          <a:prstGeom prst="rect">
            <a:avLst/>
          </a:prstGeom>
          <a:ln w="0">
            <a:noFill/>
          </a:ln>
        </p:spPr>
      </p:sp>
      <p:sp>
        <p:nvSpPr>
          <p:cNvPr id="429" name="PlaceHolder 2"/>
          <p:cNvSpPr>
            <a:spLocks noGrp="1"/>
          </p:cNvSpPr>
          <p:nvPr>
            <p:ph type="body"/>
          </p:nvPr>
        </p:nvSpPr>
        <p:spPr>
          <a:xfrm>
            <a:off x="720000" y="4680000"/>
            <a:ext cx="6120000" cy="5211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El Render Graph Viewer es una herramienta muy reciente. No estoy seguro qué versiones de Unity/URP lo soportan, creo que sólo Unity 6.</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Ayuda a entender el proceso de render incluyendo pasos que no se ven en el Frame Debugger (porque se realizan exclusivamente en CPU)</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Por esta misma razón puede usarse para identificar cuellos de botella de render en CPU</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Ahora con las Programmable Render Pipelines que está preparando Unity puede empezar a ser una tool fundamental. Esta feature puede ayudar a adaptar el sistema de Render de Unity a las necesidades concretas de cada juego, pudiendo optimizar las partes críticas o eliminando aquellas que no se estén usando</a:t>
            </a:r>
            <a:endParaRPr b="0" lang="es-ES" sz="2000" strike="noStrike" u="none">
              <a:solidFill>
                <a:srgbClr val="000000"/>
              </a:solidFill>
              <a:uFillTx/>
              <a:latin typeface="Noto Sans"/>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720000" y="900000"/>
            <a:ext cx="6120000" cy="3441600"/>
          </a:xfrm>
          <a:prstGeom prst="rect">
            <a:avLst/>
          </a:prstGeom>
          <a:ln w="0">
            <a:noFill/>
          </a:ln>
        </p:spPr>
      </p:sp>
      <p:sp>
        <p:nvSpPr>
          <p:cNvPr id="43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Si hay tiempo podemos ver esta tool en directo y explicar en qué consisten algunos de estos pasos</a:t>
            </a:r>
            <a:endParaRPr b="0" lang="es-ES" sz="2000" strike="noStrike" u="none">
              <a:solidFill>
                <a:srgbClr val="000000"/>
              </a:solidFill>
              <a:uFillTx/>
              <a:latin typeface="Noto Sans"/>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720000" y="900000"/>
            <a:ext cx="6120000" cy="3441600"/>
          </a:xfrm>
          <a:prstGeom prst="rect">
            <a:avLst/>
          </a:prstGeom>
          <a:ln w="0">
            <a:noFill/>
          </a:ln>
        </p:spPr>
      </p:sp>
      <p:sp>
        <p:nvSpPr>
          <p:cNvPr id="43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Lo primero y más importante a la hora de optimizar es identificar los cuellos de botella. En la GPU especialmente pues de lo contrario puedes estar perdiendo el tiempo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 muy importante confirmar los cuellos de botella. Por ejemplo, si pensamos que tenemos un problema con los shaders de los objetos, renderizar la escena con un shader blanco y comprobar que el framerate mejora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Los sospechosos habituales: comentarlos y explicar un poco cómo funciona la tarjeta y porqué llamar a SetPass es un problema.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DoF o Bloom pueden ser un problema por el acceso a textura.</a:t>
            </a:r>
            <a:endParaRPr b="0" lang="es-ES" sz="2000" strike="noStrike" u="none">
              <a:solidFill>
                <a:srgbClr val="000000"/>
              </a:solidFill>
              <a:uFillTx/>
              <a:latin typeface="Noto Sans"/>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720000" y="900000"/>
            <a:ext cx="6120000" cy="3441600"/>
          </a:xfrm>
          <a:prstGeom prst="rect">
            <a:avLst/>
          </a:prstGeom>
          <a:ln w="0">
            <a:noFill/>
          </a:ln>
        </p:spPr>
      </p:sp>
      <p:sp>
        <p:nvSpPr>
          <p:cNvPr id="43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Aquí muestro un listado de cosas que voy a tratar como consejos generales de optimización para GPU.</a:t>
            </a:r>
            <a:endParaRPr b="0" lang="es-ES" sz="2000" strike="noStrike" u="none">
              <a:solidFill>
                <a:srgbClr val="000000"/>
              </a:solidFill>
              <a:uFillTx/>
              <a:latin typeface="Noto Sans"/>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720000" y="900000"/>
            <a:ext cx="6120000" cy="3441600"/>
          </a:xfrm>
          <a:prstGeom prst="rect">
            <a:avLst/>
          </a:prstGeom>
          <a:ln w="0">
            <a:noFill/>
          </a:ln>
        </p:spPr>
      </p:sp>
      <p:sp>
        <p:nvSpPr>
          <p:cNvPr id="437" name="PlaceHolder 2"/>
          <p:cNvSpPr>
            <a:spLocks noGrp="1"/>
          </p:cNvSpPr>
          <p:nvPr>
            <p:ph type="body"/>
          </p:nvPr>
        </p:nvSpPr>
        <p:spPr>
          <a:xfrm>
            <a:off x="720000" y="4680000"/>
            <a:ext cx="6120000" cy="55587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Explicar qué son los LODs y cómo se usan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Normalmente se hacen modelos de distinta complejidad y se usa uno u otro dependiendo de la distancia. Pero también se puede cambiar el shader que se está usando entre LODs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 importante tb considerar ocultar los objetos que estén tan lejos que apenas aporten a la escena</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Tener muchos tris pequeños puede ser ineficiente… pero tampoco es el fin del mundo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Cuidado con el coste de los shaders de transición. Si el juego puede vivir sin transiciones, mejor.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Personalmente no soy un gran fan del componente de LOD de Unity: a veces funciona ‘regular’ y en todo caso muchas de las operaciones de render se realizan sobre el objeto aún cuando está muy lejos.</a:t>
            </a:r>
            <a:endParaRPr b="0" lang="es-ES" sz="2000" strike="noStrike" u="none">
              <a:solidFill>
                <a:srgbClr val="000000"/>
              </a:solidFill>
              <a:uFillTx/>
              <a:latin typeface="Noto Sans"/>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720000" y="900000"/>
            <a:ext cx="6120000" cy="3441600"/>
          </a:xfrm>
          <a:prstGeom prst="rect">
            <a:avLst/>
          </a:prstGeom>
          <a:ln w="0">
            <a:noFill/>
          </a:ln>
        </p:spPr>
      </p:sp>
      <p:sp>
        <p:nvSpPr>
          <p:cNvPr id="43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Explicar muy de alto nivel cuáles son las diferencias entre Forward y Deferred rendering.</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Deferred rendering en PC va razonablemente bien (al menos en PCs modernos). Pero en consolas puede tener más problemas (en la Switch al menos).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En todo caso, porqué comerte el coste extra de Deferred si sólo tienes una luz (o incluso 2 luces)?</a:t>
            </a:r>
            <a:endParaRPr b="0" lang="es-ES" sz="2000" strike="noStrike" u="none">
              <a:solidFill>
                <a:srgbClr val="000000"/>
              </a:solidFill>
              <a:uFillTx/>
              <a:latin typeface="Noto Sans"/>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720000" y="900000"/>
            <a:ext cx="6120000" cy="3441600"/>
          </a:xfrm>
          <a:prstGeom prst="rect">
            <a:avLst/>
          </a:prstGeom>
          <a:ln w="0">
            <a:noFill/>
          </a:ln>
        </p:spPr>
      </p:sp>
      <p:sp>
        <p:nvSpPr>
          <p:cNvPr id="441" name="PlaceHolder 2"/>
          <p:cNvSpPr>
            <a:spLocks noGrp="1"/>
          </p:cNvSpPr>
          <p:nvPr>
            <p:ph type="body"/>
          </p:nvPr>
        </p:nvSpPr>
        <p:spPr>
          <a:xfrm>
            <a:off x="720000" y="4680000"/>
            <a:ext cx="6120000" cy="5211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En juegos es razonablemente habitual tener objetos que se repiten mucho: balas, enemigos (en algunos juegos), tiles, animales, partículas, etc.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Cuando estos objetos son estáticos amontonarlos en un único mesh es normalmente lo más eficiente, pero si son dinámicos la mejor forma de renderizarlos es casi siempre con instanciación.</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Unity ya hace la mayor parte del trabajo con los sistemas de partículas y el dynamic batching. Si hace falta se puede hacer a mano.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Comentar la anécdota de cómo conseguimos renderizar miles de personas en el público en Switch.</a:t>
            </a:r>
            <a:endParaRPr b="0" lang="es-ES" sz="2000" strike="noStrike" u="none">
              <a:solidFill>
                <a:srgbClr val="000000"/>
              </a:solidFill>
              <a:uFillTx/>
              <a:latin typeface="Noto Sans"/>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720000" y="900000"/>
            <a:ext cx="6120000" cy="3441600"/>
          </a:xfrm>
          <a:prstGeom prst="rect">
            <a:avLst/>
          </a:prstGeom>
          <a:ln w="0">
            <a:noFill/>
          </a:ln>
        </p:spPr>
      </p:sp>
      <p:sp>
        <p:nvSpPr>
          <p:cNvPr id="44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Post-processing effects are many times the main bottleneck in the GPU.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Stuff like DoF, Bloom or Volumetric Fog can be quite expensive if not well optimized (or even when well optimized).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There’s little to do there besides optimizing the shader and only using it when and where it matters.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Also, many of these effects can work on half-res or quarter-res images. Consider doing it and upscaling later.</a:t>
            </a:r>
            <a:endParaRPr b="0" lang="es-ES" sz="2000" strike="noStrike" u="none">
              <a:solidFill>
                <a:srgbClr val="000000"/>
              </a:solidFill>
              <a:uFillTx/>
              <a:latin typeface="Noto Sans"/>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720000" y="900000"/>
            <a:ext cx="6120000" cy="3441600"/>
          </a:xfrm>
          <a:prstGeom prst="rect">
            <a:avLst/>
          </a:prstGeom>
          <a:ln w="0">
            <a:noFill/>
          </a:ln>
        </p:spPr>
      </p:sp>
      <p:sp>
        <p:nvSpPr>
          <p:cNvPr id="445" name="PlaceHolder 2"/>
          <p:cNvSpPr>
            <a:spLocks noGrp="1"/>
          </p:cNvSpPr>
          <p:nvPr>
            <p:ph type="body"/>
          </p:nvPr>
        </p:nvSpPr>
        <p:spPr>
          <a:xfrm>
            <a:off x="720000" y="4680000"/>
            <a:ext cx="6120000" cy="52113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Explicar cómo se renderizan los pixels en la GPU. Cómo se descartan pixels que ya están ‘ocupados’ usando el Z-Buffer</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Este tipo de ‘descartes’ no se pueden realizar si los pixeles los ocupan objetos con transparencia. Por eso, estas zonas suelen tener una cantidad de overdraw más importante, que supone renderizar el mismo pixel muchas veces.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Partículas de humo, por ejemplo, generan mucho overdraw.</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Usar Alpha Cutout ayuda mucho ya que no se trata como un objeto transparente, sino como uno opaco.</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Explicar la diferencia entre un tipo de transparencia y otro (cutout y alpha normal) </a:t>
            </a:r>
            <a:endParaRPr b="0" lang="es-ES" sz="2000" strike="noStrike" u="none">
              <a:solidFill>
                <a:srgbClr val="000000"/>
              </a:solidFill>
              <a:uFillTx/>
              <a:latin typeface="Noto Sans"/>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720000" y="900000"/>
            <a:ext cx="6120000" cy="3441600"/>
          </a:xfrm>
          <a:prstGeom prst="rect">
            <a:avLst/>
          </a:prstGeom>
          <a:ln w="0">
            <a:noFill/>
          </a:ln>
        </p:spPr>
      </p:sp>
      <p:sp>
        <p:nvSpPr>
          <p:cNvPr id="447" name="PlaceHolder 2"/>
          <p:cNvSpPr>
            <a:spLocks noGrp="1"/>
          </p:cNvSpPr>
          <p:nvPr>
            <p:ph type="body"/>
          </p:nvPr>
        </p:nvSpPr>
        <p:spPr>
          <a:xfrm>
            <a:off x="720000" y="4680000"/>
            <a:ext cx="6120000" cy="555876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Explicar que no me da tiempo a tocar este tema en profundidad.</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Que es algo muy importante hoy en día. Que no es algo a tener en cuenta al final, ya que hacer multithread algo que no lo es no es fácil muchas veces. Especialmente en Unity por las dependencias que tienen muchas operaciones de estar en el thread principal. </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nuevo sistema de Entidades de Unity, junto con la biblioteca de Jobs, Burst y el conjunto de bibliotecas montado para ECS permiten desarrollar juegos muy enfocados a performance para muchos elementos.</a:t>
            </a:r>
            <a:endParaRPr b="0" lang="es-ES" sz="2000" strike="noStrike" u="none">
              <a:solidFill>
                <a:srgbClr val="000000"/>
              </a:solidFill>
              <a:uFillTx/>
              <a:latin typeface="Noto Sans"/>
            </a:endParaRPr>
          </a:p>
          <a:p>
            <a:pPr marL="216000" indent="-216000">
              <a:buNone/>
            </a:pPr>
            <a:r>
              <a:rPr b="0" lang="es-ES" sz="2000" strike="noStrike" u="none">
                <a:solidFill>
                  <a:srgbClr val="000000"/>
                </a:solidFill>
                <a:uFillTx/>
                <a:latin typeface="Noto Sans"/>
              </a:rPr>
              <a:t>El problema es que desarrollar con estas librerías implica usar un subconjunto de C# pensado para performance y es bte más difícil de programar.</a:t>
            </a:r>
            <a:endParaRPr b="0" lang="es-ES" sz="2000" strike="noStrike" u="none">
              <a:solidFill>
                <a:srgbClr val="000000"/>
              </a:solidFill>
              <a:uFillTx/>
              <a:latin typeface="Noto Sans"/>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720000" y="900000"/>
            <a:ext cx="6120000" cy="3441600"/>
          </a:xfrm>
          <a:prstGeom prst="rect">
            <a:avLst/>
          </a:prstGeom>
          <a:ln w="0">
            <a:noFill/>
          </a:ln>
        </p:spPr>
      </p:sp>
      <p:sp>
        <p:nvSpPr>
          <p:cNvPr id="44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Noto Sans"/>
              </a:rPr>
              <a:t>Resolver dudas de cualquier tipo.</a:t>
            </a:r>
            <a:endParaRPr b="0" lang="es-ES" sz="2000" strike="noStrike" u="none">
              <a:solidFill>
                <a:srgbClr val="000000"/>
              </a:solidFill>
              <a:uFillTx/>
              <a:latin typeface="Noto Sans"/>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Grey-Elegant">
    <p:spTree>
      <p:nvGrpSpPr>
        <p:cNvPr id="1" name=""/>
        <p:cNvGrpSpPr/>
        <p:nvPr/>
      </p:nvGrpSpPr>
      <p:grpSpPr>
        <a:xfrm>
          <a:off x="0" y="0"/>
          <a:ext cx="0" cy="0"/>
          <a:chOff x="0" y="0"/>
          <a:chExt cx="0" cy="0"/>
        </a:xfrm>
      </p:grpSpPr>
      <p:sp>
        <p:nvSpPr>
          <p:cNvPr id="5" name="PlaceHolder 1"/>
          <p:cNvSpPr>
            <a:spLocks noGrp="1"/>
          </p:cNvSpPr>
          <p:nvPr>
            <p:ph type="title"/>
          </p:nvPr>
        </p:nvSpPr>
        <p:spPr>
          <a:xfrm>
            <a:off x="540000" y="3733560"/>
            <a:ext cx="9072000" cy="946440"/>
          </a:xfrm>
          <a:prstGeom prst="rect">
            <a:avLst/>
          </a:prstGeom>
          <a:noFill/>
          <a:ln w="0">
            <a:noFill/>
          </a:ln>
        </p:spPr>
        <p:txBody>
          <a:bodyPr lIns="0" rIns="0" tIns="0" bIns="0" anchor="ctr">
            <a:normAutofit/>
          </a:bodyPr>
          <a:p>
            <a:pPr indent="0" algn="ctr">
              <a:buNone/>
            </a:pPr>
            <a:endParaRPr b="1" lang="es-ES" sz="4400" strike="noStrike" u="none">
              <a:solidFill>
                <a:srgbClr val="062814"/>
              </a:solidFill>
              <a:uFillTx/>
              <a:latin typeface="Noto Sans"/>
            </a:endParaRPr>
          </a:p>
        </p:txBody>
      </p:sp>
      <p:sp>
        <p:nvSpPr>
          <p:cNvPr id="6" name="PlaceHolder 2"/>
          <p:cNvSpPr>
            <a:spLocks noGrp="1"/>
          </p:cNvSpPr>
          <p:nvPr>
            <p:ph type="subTitle"/>
          </p:nvPr>
        </p:nvSpPr>
        <p:spPr>
          <a:xfrm>
            <a:off x="540000" y="131760"/>
            <a:ext cx="9072000" cy="1308240"/>
          </a:xfrm>
          <a:prstGeom prst="rect">
            <a:avLst/>
          </a:prstGeom>
          <a:noFill/>
          <a:ln w="0">
            <a:noFill/>
          </a:ln>
        </p:spPr>
        <p:txBody>
          <a:bodyPr lIns="0" rIns="0" tIns="0" bIns="0" anchor="ctr">
            <a:noAutofit/>
          </a:bodyPr>
          <a:p>
            <a:pPr indent="0" algn="ctr">
              <a:buNone/>
            </a:pPr>
            <a:endParaRPr b="0" lang="es-ES" sz="3200" strike="noStrike" u="none">
              <a:solidFill>
                <a:srgbClr val="000000"/>
              </a:solidFill>
              <a:uFillTx/>
              <a:latin typeface="Noto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84128D6-EE54-43BC-9415-4D89C6F06E49}"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Grey-Elegant">
    <p:spTree>
      <p:nvGrpSpPr>
        <p:cNvPr id="1" name=""/>
        <p:cNvGrpSpPr/>
        <p:nvPr/>
      </p:nvGrpSpPr>
      <p:grpSpPr>
        <a:xfrm>
          <a:off x="0" y="0"/>
          <a:ext cx="0" cy="0"/>
          <a:chOff x="0" y="0"/>
          <a:chExt cx="0" cy="0"/>
        </a:xfrm>
      </p:grpSpPr>
      <p:sp>
        <p:nvSpPr>
          <p:cNvPr id="7" name="PlaceHolder 1"/>
          <p:cNvSpPr>
            <a:spLocks noGrp="1"/>
          </p:cNvSpPr>
          <p:nvPr>
            <p:ph type="title"/>
          </p:nvPr>
        </p:nvSpPr>
        <p:spPr>
          <a:xfrm>
            <a:off x="540000" y="3733560"/>
            <a:ext cx="9072000" cy="946440"/>
          </a:xfrm>
          <a:prstGeom prst="rect">
            <a:avLst/>
          </a:prstGeom>
          <a:noFill/>
          <a:ln w="0">
            <a:noFill/>
          </a:ln>
        </p:spPr>
        <p:txBody>
          <a:bodyPr lIns="0" rIns="0" tIns="0" bIns="0" anchor="ctr">
            <a:normAutofit/>
          </a:bodyPr>
          <a:p>
            <a:pPr indent="0" algn="ctr">
              <a:buNone/>
            </a:pPr>
            <a:endParaRPr b="1" lang="es-ES" sz="4400" strike="noStrike" u="none">
              <a:solidFill>
                <a:srgbClr val="062814"/>
              </a:solidFill>
              <a:uFillTx/>
              <a:latin typeface="Noto Sans"/>
            </a:endParaRPr>
          </a:p>
        </p:txBody>
      </p:sp>
      <p:sp>
        <p:nvSpPr>
          <p:cNvPr id="8" name="PlaceHolder 2"/>
          <p:cNvSpPr>
            <a:spLocks noGrp="1"/>
          </p:cNvSpPr>
          <p:nvPr>
            <p:ph/>
          </p:nvPr>
        </p:nvSpPr>
        <p:spPr>
          <a:xfrm>
            <a:off x="540000" y="131760"/>
            <a:ext cx="9072000" cy="1308240"/>
          </a:xfrm>
          <a:prstGeom prst="rect">
            <a:avLst/>
          </a:prstGeom>
          <a:noFill/>
          <a:ln w="0">
            <a:noFill/>
          </a:ln>
        </p:spPr>
        <p:txBody>
          <a:bodyPr lIns="0" rIns="0" tIns="0" bIns="0" anchor="t">
            <a:normAutofit/>
          </a:bodyPr>
          <a:p>
            <a:pPr indent="0" algn="ctr">
              <a:spcBef>
                <a:spcPts val="1417"/>
              </a:spcBef>
              <a:buNone/>
            </a:pPr>
            <a:endParaRPr b="0" lang="es-ES" sz="3200" strike="noStrike" u="none">
              <a:solidFill>
                <a:srgbClr val="062814"/>
              </a:solidFill>
              <a:uFillTx/>
              <a:latin typeface="Noto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9523BA9-8018-4CAC-8ADE-FFA4C7046AD1}"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able of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40000" y="3733560"/>
            <a:ext cx="9072000" cy="946440"/>
          </a:xfrm>
          <a:prstGeom prst="rect">
            <a:avLst/>
          </a:prstGeom>
          <a:noFill/>
          <a:ln w="0">
            <a:noFill/>
          </a:ln>
        </p:spPr>
        <p:txBody>
          <a:bodyPr lIns="0" rIns="0" tIns="0" bIns="0" anchor="ctr">
            <a:normAutofit/>
          </a:bodyPr>
          <a:p>
            <a:pPr indent="0" algn="ctr">
              <a:buNone/>
            </a:pPr>
            <a:endParaRPr b="1" lang="es-ES" sz="4400" strike="noStrike" u="none">
              <a:solidFill>
                <a:srgbClr val="062814"/>
              </a:solidFill>
              <a:uFillTx/>
              <a:latin typeface="Noto Sans"/>
            </a:endParaRPr>
          </a:p>
        </p:txBody>
      </p:sp>
      <p:sp>
        <p:nvSpPr>
          <p:cNvPr id="28" name="PlaceHolder 2"/>
          <p:cNvSpPr>
            <a:spLocks noGrp="1"/>
          </p:cNvSpPr>
          <p:nvPr>
            <p:ph/>
          </p:nvPr>
        </p:nvSpPr>
        <p:spPr>
          <a:xfrm>
            <a:off x="540000" y="131760"/>
            <a:ext cx="9072000" cy="1308240"/>
          </a:xfrm>
          <a:prstGeom prst="rect">
            <a:avLst/>
          </a:prstGeom>
          <a:noFill/>
          <a:ln w="0">
            <a:noFill/>
          </a:ln>
        </p:spPr>
        <p:txBody>
          <a:bodyPr lIns="0" rIns="0" tIns="0" bIns="0" anchor="t">
            <a:normAutofit/>
          </a:bodyPr>
          <a:p>
            <a:pPr indent="0" algn="ctr">
              <a:spcBef>
                <a:spcPts val="1417"/>
              </a:spcBef>
              <a:buNone/>
            </a:pPr>
            <a:endParaRPr b="0" lang="es-ES" sz="3200" strike="noStrike" u="none">
              <a:solidFill>
                <a:srgbClr val="062814"/>
              </a:solidFill>
              <a:uFillTx/>
              <a:latin typeface="Noto Sans"/>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3750BABC-0618-4681-B89B-A6A0FF3E5108}" type="slidenum">
              <a:t>&lt;#&gt;</a:t>
            </a:fld>
          </a:p>
        </p:txBody>
      </p:sp>
      <p:sp>
        <p:nvSpPr>
          <p:cNvPr id="6" name="PlaceHolder 5"/>
          <p:cNvSpPr>
            <a:spLocks noGrp="1"/>
          </p:cNvSpPr>
          <p:nvPr>
            <p:ph type="dt" idx="4"/>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
    <p:spTree>
      <p:nvGrpSpPr>
        <p:cNvPr id="1" name=""/>
        <p:cNvGrpSpPr/>
        <p:nvPr/>
      </p:nvGrpSpPr>
      <p:grpSpPr>
        <a:xfrm>
          <a:off x="0" y="0"/>
          <a:ext cx="0" cy="0"/>
          <a:chOff x="0" y="0"/>
          <a:chExt cx="0" cy="0"/>
        </a:xfrm>
      </p:grpSpPr>
      <p:sp>
        <p:nvSpPr>
          <p:cNvPr id="35" name="PlaceHolder 1"/>
          <p:cNvSpPr>
            <a:spLocks noGrp="1"/>
          </p:cNvSpPr>
          <p:nvPr>
            <p:ph type="title"/>
          </p:nvPr>
        </p:nvSpPr>
        <p:spPr>
          <a:xfrm>
            <a:off x="540000" y="3733560"/>
            <a:ext cx="9072000" cy="946440"/>
          </a:xfrm>
          <a:prstGeom prst="rect">
            <a:avLst/>
          </a:prstGeom>
          <a:noFill/>
          <a:ln w="0">
            <a:noFill/>
          </a:ln>
        </p:spPr>
        <p:txBody>
          <a:bodyPr lIns="0" rIns="0" tIns="0" bIns="0" anchor="ctr">
            <a:normAutofit/>
          </a:bodyPr>
          <a:p>
            <a:pPr indent="0" algn="ctr">
              <a:buNone/>
            </a:pPr>
            <a:endParaRPr b="1" lang="es-ES" sz="4400" strike="noStrike" u="none">
              <a:solidFill>
                <a:srgbClr val="062814"/>
              </a:solidFill>
              <a:uFillTx/>
              <a:latin typeface="Noto Sans"/>
            </a:endParaRPr>
          </a:p>
        </p:txBody>
      </p:sp>
      <p:sp>
        <p:nvSpPr>
          <p:cNvPr id="36" name="PlaceHolder 2"/>
          <p:cNvSpPr>
            <a:spLocks noGrp="1"/>
          </p:cNvSpPr>
          <p:nvPr>
            <p:ph/>
          </p:nvPr>
        </p:nvSpPr>
        <p:spPr>
          <a:xfrm>
            <a:off x="540000" y="131760"/>
            <a:ext cx="9072000" cy="1308240"/>
          </a:xfrm>
          <a:prstGeom prst="rect">
            <a:avLst/>
          </a:prstGeom>
          <a:noFill/>
          <a:ln w="0">
            <a:noFill/>
          </a:ln>
        </p:spPr>
        <p:txBody>
          <a:bodyPr lIns="0" rIns="0" tIns="0" bIns="0" anchor="t">
            <a:normAutofit/>
          </a:bodyPr>
          <a:p>
            <a:pPr indent="0" algn="ctr">
              <a:spcBef>
                <a:spcPts val="1417"/>
              </a:spcBef>
              <a:buNone/>
            </a:pPr>
            <a:endParaRPr b="0" lang="es-ES" sz="3200" strike="noStrike" u="none">
              <a:solidFill>
                <a:srgbClr val="062814"/>
              </a:solidFill>
              <a:uFillTx/>
              <a:latin typeface="Noto Sans"/>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C84753D-0E58-42A3-9E64-1F78A6E7FFF6}" type="slidenum">
              <a:t>&lt;#&gt;</a:t>
            </a:fld>
          </a:p>
        </p:txBody>
      </p:sp>
      <p:sp>
        <p:nvSpPr>
          <p:cNvPr id="6" name="PlaceHolder 5"/>
          <p:cNvSpPr>
            <a:spLocks noGrp="1"/>
          </p:cNvSpPr>
          <p:nvPr>
            <p:ph type="dt" idx="7"/>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1">
    <p:spTree>
      <p:nvGrpSpPr>
        <p:cNvPr id="1" name=""/>
        <p:cNvGrpSpPr/>
        <p:nvPr/>
      </p:nvGrpSpPr>
      <p:grpSpPr>
        <a:xfrm>
          <a:off x="0" y="0"/>
          <a:ext cx="0" cy="0"/>
          <a:chOff x="0" y="0"/>
          <a:chExt cx="0" cy="0"/>
        </a:xfrm>
      </p:grpSpPr>
      <p:sp>
        <p:nvSpPr>
          <p:cNvPr id="43" name="PlaceHolder 1"/>
          <p:cNvSpPr>
            <a:spLocks noGrp="1"/>
          </p:cNvSpPr>
          <p:nvPr>
            <p:ph type="title"/>
          </p:nvPr>
        </p:nvSpPr>
        <p:spPr>
          <a:xfrm>
            <a:off x="540000" y="3733560"/>
            <a:ext cx="9072000" cy="946440"/>
          </a:xfrm>
          <a:prstGeom prst="rect">
            <a:avLst/>
          </a:prstGeom>
          <a:noFill/>
          <a:ln w="0">
            <a:noFill/>
          </a:ln>
        </p:spPr>
        <p:txBody>
          <a:bodyPr lIns="0" rIns="0" tIns="0" bIns="0" anchor="ctr">
            <a:normAutofit/>
          </a:bodyPr>
          <a:p>
            <a:pPr indent="0" algn="ctr">
              <a:buNone/>
            </a:pPr>
            <a:endParaRPr b="1" lang="es-ES" sz="4400" strike="noStrike" u="none">
              <a:solidFill>
                <a:srgbClr val="062814"/>
              </a:solidFill>
              <a:uFillTx/>
              <a:latin typeface="Noto Sans"/>
            </a:endParaRPr>
          </a:p>
        </p:txBody>
      </p:sp>
      <p:sp>
        <p:nvSpPr>
          <p:cNvPr id="44" name="PlaceHolder 2"/>
          <p:cNvSpPr>
            <a:spLocks noGrp="1"/>
          </p:cNvSpPr>
          <p:nvPr>
            <p:ph/>
          </p:nvPr>
        </p:nvSpPr>
        <p:spPr>
          <a:xfrm>
            <a:off x="540000" y="131760"/>
            <a:ext cx="9072000" cy="1308240"/>
          </a:xfrm>
          <a:prstGeom prst="rect">
            <a:avLst/>
          </a:prstGeom>
          <a:noFill/>
          <a:ln w="0">
            <a:noFill/>
          </a:ln>
        </p:spPr>
        <p:txBody>
          <a:bodyPr lIns="0" rIns="0" tIns="0" bIns="0" anchor="t">
            <a:normAutofit/>
          </a:bodyPr>
          <a:p>
            <a:pPr indent="0" algn="ctr">
              <a:spcBef>
                <a:spcPts val="1417"/>
              </a:spcBef>
              <a:buNone/>
            </a:pPr>
            <a:endParaRPr b="0" lang="es-ES" sz="3200" strike="noStrike" u="none">
              <a:solidFill>
                <a:srgbClr val="062814"/>
              </a:solidFill>
              <a:uFillTx/>
              <a:latin typeface="Noto Sans"/>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F35406C-CD59-4627-AA49-CA55E936E106}" type="slidenum">
              <a:t>&lt;#&gt;</a:t>
            </a:fld>
          </a:p>
        </p:txBody>
      </p:sp>
      <p:sp>
        <p:nvSpPr>
          <p:cNvPr id="6" name="PlaceHolder 5"/>
          <p:cNvSpPr>
            <a:spLocks noGrp="1"/>
          </p:cNvSpPr>
          <p:nvPr>
            <p:ph type="dt" idx="10"/>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jpeg"/><Relationship Id="rId3" Type="http://schemas.openxmlformats.org/officeDocument/2006/relationships/image" Target="../media/image2.jpeg"/><Relationship Id="rId4" Type="http://schemas.openxmlformats.org/officeDocument/2006/relationships/image" Target="../media/image2.jpeg"/><Relationship Id="rId5" Type="http://schemas.openxmlformats.org/officeDocument/2006/relationships/image" Target="../media/image2.jpeg"/><Relationship Id="rId6" Type="http://schemas.openxmlformats.org/officeDocument/2006/relationships/image" Target="../media/image2.jpeg"/><Relationship Id="rId7" Type="http://schemas.openxmlformats.org/officeDocument/2006/relationships/image" Target="../media/image2.jpeg"/><Relationship Id="rId8" Type="http://schemas.openxmlformats.org/officeDocument/2006/relationships/image" Target="../media/image2.jpeg"/><Relationship Id="rId9" Type="http://schemas.openxmlformats.org/officeDocument/2006/relationships/image" Target="../media/image2.jpeg"/><Relationship Id="rId10" Type="http://schemas.openxmlformats.org/officeDocument/2006/relationships/image" Target="../media/image3.png"/><Relationship Id="rId11" Type="http://schemas.openxmlformats.org/officeDocument/2006/relationships/image" Target="../media/image4.svg"/><Relationship Id="rId1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5.png"/><Relationship Id="rId3"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6.png"/><Relationship Id="rId3"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
</Relationships>
</file>

<file path=ppt/slideMasters/_rels/slideMaster6.xml.rels><?xml version="1.0" encoding="UTF-8"?>
<Relationships xmlns="http://schemas.openxmlformats.org/package/2006/relationships"><Relationship Id="rId1" Type="http://schemas.openxmlformats.org/officeDocument/2006/relationships/theme" Target="../theme/theme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2.jpeg"/><Relationship Id="rId3" Type="http://schemas.openxmlformats.org/officeDocument/2006/relationships/image" Target="../media/image7.jpeg"/><Relationship Id="rId4" Type="http://schemas.openxmlformats.org/officeDocument/2006/relationships/image" Target="../media/image2.jpeg"/><Relationship Id="rId5" Type="http://schemas.openxmlformats.org/officeDocument/2006/relationships/image" Target="../media/image2.jpeg"/>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2.jpeg"/><Relationship Id="rId3" Type="http://schemas.openxmlformats.org/officeDocument/2006/relationships/image" Target="../media/image2.jpeg"/><Relationship Id="rId4" Type="http://schemas.openxmlformats.org/officeDocument/2006/relationships/image" Target="../media/image2.jpeg"/><Relationship Id="rId5" Type="http://schemas.openxmlformats.org/officeDocument/2006/relationships/image" Target="../media/image2.jpeg"/><Relationship Id="rId6" Type="http://schemas.openxmlformats.org/officeDocument/2006/relationships/image" Target="../media/image2.jpeg"/><Relationship Id="rId7" Type="http://schemas.openxmlformats.org/officeDocument/2006/relationships/image" Target="../media/image2.jpeg"/><Relationship Id="rId8" Type="http://schemas.openxmlformats.org/officeDocument/2006/relationships/image" Target="../media/image2.jpeg"/><Relationship Id="rId9" Type="http://schemas.openxmlformats.org/officeDocument/2006/relationships/image" Target="../media/image2.jpeg"/><Relationship Id="rId10" Type="http://schemas.openxmlformats.org/officeDocument/2006/relationships/image" Target="../media/image2.jpeg"/><Relationship Id="rId11" Type="http://schemas.openxmlformats.org/officeDocument/2006/relationships/image" Target="../media/image2.jpeg"/><Relationship Id="rId12" Type="http://schemas.openxmlformats.org/officeDocument/2006/relationships/image" Target="../media/image2.jpeg"/><Relationship Id="rId13" Type="http://schemas.openxmlformats.org/officeDocument/2006/relationships/image" Target="../media/image2.jpeg"/><Relationship Id="rId14" Type="http://schemas.openxmlformats.org/officeDocument/2006/relationships/image" Target="../media/image2.jpeg"/><Relationship Id="rId15" Type="http://schemas.openxmlformats.org/officeDocument/2006/relationships/image" Target="../media/image2.jpeg"/><Relationship Id="rId16" Type="http://schemas.openxmlformats.org/officeDocument/2006/relationships/image" Target="../media/image2.jpeg"/>
</Relationships>
</file>

<file path=ppt/slideMasters/_rels/slideMaster9.xml.rels><?xml version="1.0" encoding="UTF-8"?>
<Relationships xmlns="http://schemas.openxmlformats.org/package/2006/relationships"><Relationship Id="rId1" Type="http://schemas.openxmlformats.org/officeDocument/2006/relationships/theme" Target="../theme/theme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40000" y="1440000"/>
            <a:ext cx="9180000" cy="1440000"/>
          </a:xfrm>
          <a:prstGeom prst="rect">
            <a:avLst/>
          </a:prstGeom>
          <a:noFill/>
          <a:ln w="0">
            <a:noFill/>
          </a:ln>
        </p:spPr>
        <p:txBody>
          <a:bodyPr lIns="0" rIns="0" tIns="0" bIns="0" anchor="ctr">
            <a:normAutofit lnSpcReduction="9999"/>
          </a:bodyPr>
          <a:p>
            <a:pPr indent="0" algn="ctr">
              <a:buNone/>
            </a:pPr>
            <a:r>
              <a:rPr b="1" lang="es-ES" sz="4400" strike="noStrike" u="none">
                <a:solidFill>
                  <a:srgbClr val="062814"/>
                </a:solidFill>
                <a:uFillTx/>
                <a:latin typeface="Noto Sans"/>
              </a:rPr>
              <a:t>Pulse para editar el formato del texto de título</a:t>
            </a:r>
            <a:endParaRPr b="1" lang="es-ES" sz="4400" strike="noStrike" u="none">
              <a:solidFill>
                <a:srgbClr val="062814"/>
              </a:solidFill>
              <a:uFillTx/>
              <a:latin typeface="Noto Sans"/>
            </a:endParaRPr>
          </a:p>
        </p:txBody>
      </p:sp>
      <p:sp>
        <p:nvSpPr>
          <p:cNvPr id="1" name="PlaceHolder 2"/>
          <p:cNvSpPr>
            <a:spLocks noGrp="1"/>
          </p:cNvSpPr>
          <p:nvPr>
            <p:ph type="body"/>
          </p:nvPr>
        </p:nvSpPr>
        <p:spPr>
          <a:xfrm>
            <a:off x="468000" y="3060000"/>
            <a:ext cx="9252000" cy="2106000"/>
          </a:xfrm>
          <a:prstGeom prst="rect">
            <a:avLst/>
          </a:prstGeom>
          <a:noFill/>
          <a:ln w="0">
            <a:noFill/>
          </a:ln>
        </p:spPr>
        <p:txBody>
          <a:bodyPr lIns="0" rIns="0" tIns="0" bIns="0" anchor="t">
            <a:normAutofit fontScale="70000" lnSpcReduction="19999"/>
          </a:bodyPr>
          <a:p>
            <a:pPr marL="432000" indent="-324000" algn="ctr">
              <a:spcBef>
                <a:spcPts val="1417"/>
              </a:spcBef>
              <a:buClr>
                <a:srgbClr val="000000"/>
              </a:buClr>
              <a:buSzPct val="45000"/>
              <a:buFont typeface="Wingdings" charset="2"/>
              <a:buChar char=""/>
            </a:pPr>
            <a:r>
              <a:rPr b="0" lang="es-ES" sz="3200" strike="noStrike" u="none">
                <a:solidFill>
                  <a:srgbClr val="062814"/>
                </a:solidFill>
                <a:uFillTx/>
                <a:latin typeface="Noto Sans"/>
              </a:rPr>
              <a:t>Pulse para editar el formato de texto del esquema</a:t>
            </a:r>
            <a:endParaRPr b="0" lang="es-ES" sz="3200" strike="noStrike" u="none">
              <a:solidFill>
                <a:srgbClr val="062814"/>
              </a:solidFill>
              <a:uFillTx/>
              <a:latin typeface="Noto Sans"/>
            </a:endParaRPr>
          </a:p>
          <a:p>
            <a:pPr lvl="1" marL="864000" indent="-324000" algn="ctr">
              <a:spcBef>
                <a:spcPts val="1134"/>
              </a:spcBef>
              <a:buClr>
                <a:srgbClr val="000000"/>
              </a:buClr>
              <a:buSzPct val="75000"/>
              <a:buFont typeface="Symbol" charset="2"/>
              <a:buChar char=""/>
            </a:pPr>
            <a:r>
              <a:rPr b="0" lang="es-ES" sz="2800" strike="noStrike" u="none">
                <a:solidFill>
                  <a:srgbClr val="062814"/>
                </a:solidFill>
                <a:uFillTx/>
                <a:latin typeface="Noto Sans"/>
              </a:rPr>
              <a:t>Segundo nivel del esquema</a:t>
            </a:r>
            <a:endParaRPr b="0" lang="es-ES" sz="2800" strike="noStrike" u="none">
              <a:solidFill>
                <a:srgbClr val="062814"/>
              </a:solidFill>
              <a:uFillTx/>
              <a:latin typeface="Noto Sans"/>
            </a:endParaRPr>
          </a:p>
          <a:p>
            <a:pPr lvl="2" marL="1296000" indent="-288000" algn="ctr">
              <a:spcBef>
                <a:spcPts val="850"/>
              </a:spcBef>
              <a:buClr>
                <a:srgbClr val="000000"/>
              </a:buClr>
              <a:buSzPct val="45000"/>
              <a:buFont typeface="Wingdings" charset="2"/>
              <a:buChar char=""/>
            </a:pPr>
            <a:r>
              <a:rPr b="0" lang="es-ES" sz="2400" strike="noStrike" u="none">
                <a:solidFill>
                  <a:srgbClr val="062814"/>
                </a:solidFill>
                <a:uFillTx/>
                <a:latin typeface="Noto Sans"/>
              </a:rPr>
              <a:t>Tercer nivel del esquema</a:t>
            </a:r>
            <a:endParaRPr b="0" lang="es-ES" sz="2400" strike="noStrike" u="none">
              <a:solidFill>
                <a:srgbClr val="062814"/>
              </a:solidFill>
              <a:uFillTx/>
              <a:latin typeface="Noto Sans"/>
            </a:endParaRPr>
          </a:p>
          <a:p>
            <a:pPr lvl="3" marL="1728000" indent="-216000" algn="ctr">
              <a:spcBef>
                <a:spcPts val="567"/>
              </a:spcBef>
              <a:buClr>
                <a:srgbClr val="000000"/>
              </a:buClr>
              <a:buSzPct val="75000"/>
              <a:buFont typeface="Symbol" charset="2"/>
              <a:buChar char=""/>
            </a:pPr>
            <a:r>
              <a:rPr b="0" lang="es-ES" sz="2000" strike="noStrike" u="none">
                <a:solidFill>
                  <a:srgbClr val="062814"/>
                </a:solidFill>
                <a:uFillTx/>
                <a:latin typeface="Noto Sans"/>
              </a:rPr>
              <a:t>Cuarto nivel del esquema</a:t>
            </a:r>
            <a:endParaRPr b="0" lang="es-ES" sz="2000" strike="noStrike" u="none">
              <a:solidFill>
                <a:srgbClr val="062814"/>
              </a:solidFill>
              <a:uFillTx/>
              <a:latin typeface="Noto Sans"/>
            </a:endParaRPr>
          </a:p>
          <a:p>
            <a:pPr lvl="4" marL="2160000" indent="-216000" algn="ctr">
              <a:spcBef>
                <a:spcPts val="283"/>
              </a:spcBef>
              <a:buClr>
                <a:srgbClr val="000000"/>
              </a:buClr>
              <a:buSzPct val="45000"/>
              <a:buFont typeface="Wingdings" charset="2"/>
              <a:buChar char=""/>
            </a:pPr>
            <a:r>
              <a:rPr b="0" lang="es-ES" sz="2000" strike="noStrike" u="none">
                <a:solidFill>
                  <a:srgbClr val="062814"/>
                </a:solidFill>
                <a:uFillTx/>
                <a:latin typeface="Noto Sans"/>
              </a:rPr>
              <a:t>Quinto nivel del esquema</a:t>
            </a:r>
            <a:endParaRPr b="0" lang="es-ES" sz="2000" strike="noStrike" u="none">
              <a:solidFill>
                <a:srgbClr val="062814"/>
              </a:solidFill>
              <a:uFillTx/>
              <a:latin typeface="Noto Sans"/>
            </a:endParaRPr>
          </a:p>
          <a:p>
            <a:pPr lvl="5" marL="2592000" indent="-216000" algn="ctr">
              <a:spcBef>
                <a:spcPts val="283"/>
              </a:spcBef>
              <a:buClr>
                <a:srgbClr val="000000"/>
              </a:buClr>
              <a:buSzPct val="45000"/>
              <a:buFont typeface="Wingdings" charset="2"/>
              <a:buChar char=""/>
            </a:pPr>
            <a:r>
              <a:rPr b="0" lang="es-ES" sz="2000" strike="noStrike" u="none">
                <a:solidFill>
                  <a:srgbClr val="062814"/>
                </a:solidFill>
                <a:uFillTx/>
                <a:latin typeface="Noto Sans"/>
              </a:rPr>
              <a:t>Sexto nivel del esquema</a:t>
            </a:r>
            <a:endParaRPr b="0" lang="es-ES" sz="2000" strike="noStrike" u="none">
              <a:solidFill>
                <a:srgbClr val="062814"/>
              </a:solidFill>
              <a:uFillTx/>
              <a:latin typeface="Noto Sans"/>
            </a:endParaRPr>
          </a:p>
          <a:p>
            <a:pPr lvl="6" marL="3024000" indent="-216000" algn="ctr">
              <a:spcBef>
                <a:spcPts val="283"/>
              </a:spcBef>
              <a:buClr>
                <a:srgbClr val="000000"/>
              </a:buClr>
              <a:buSzPct val="45000"/>
              <a:buFont typeface="Wingdings" charset="2"/>
              <a:buChar char=""/>
            </a:pPr>
            <a:r>
              <a:rPr b="0" lang="es-ES" sz="2000" strike="noStrike" u="none">
                <a:solidFill>
                  <a:srgbClr val="062814"/>
                </a:solidFill>
                <a:uFillTx/>
                <a:latin typeface="Noto Sans"/>
              </a:rPr>
              <a:t>Séptimo nivel del esquema</a:t>
            </a:r>
            <a:endParaRPr b="0" lang="es-ES" sz="2000" strike="noStrike" u="none">
              <a:solidFill>
                <a:srgbClr val="062814"/>
              </a:solidFill>
              <a:uFillTx/>
              <a:latin typeface="Noto Sans"/>
            </a:endParaRPr>
          </a:p>
        </p:txBody>
      </p:sp>
      <p:sp>
        <p:nvSpPr>
          <p:cNvPr id="2" name="PlaceHolder 3"/>
          <p:cNvSpPr>
            <a:spLocks noGrp="1"/>
          </p:cNvSpPr>
          <p:nvPr>
            <p:ph type="dt" idx="1"/>
          </p:nvPr>
        </p:nvSpPr>
        <p:spPr>
          <a:xfrm>
            <a:off x="3960000" y="5688000"/>
            <a:ext cx="2052000" cy="216000"/>
          </a:xfrm>
          <a:prstGeom prst="rect">
            <a:avLst/>
          </a:prstGeom>
          <a:noFill/>
          <a:ln w="0">
            <a:noFill/>
          </a:ln>
        </p:spPr>
        <p:txBody>
          <a:bodyPr lIns="0" rIns="0" tIns="0" bIns="0" anchor="t">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3" name="PlaceHolder 4"/>
          <p:cNvSpPr>
            <a:spLocks noGrp="1"/>
          </p:cNvSpPr>
          <p:nvPr>
            <p:ph type="ftr" idx="2"/>
          </p:nvPr>
        </p:nvSpPr>
        <p:spPr>
          <a:xfrm>
            <a:off x="180000" y="5688000"/>
            <a:ext cx="2052000" cy="180000"/>
          </a:xfrm>
          <a:prstGeom prst="rect">
            <a:avLst/>
          </a:prstGeom>
          <a:noFill/>
          <a:ln w="0">
            <a:noFill/>
          </a:ln>
        </p:spPr>
        <p:txBody>
          <a:bodyPr lIns="0" rIns="0" tIns="0" bIns="0" anchor="t">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4" name="PlaceHolder 5"/>
          <p:cNvSpPr>
            <a:spLocks noGrp="1"/>
          </p:cNvSpPr>
          <p:nvPr>
            <p:ph type="sldNum" idx="3"/>
          </p:nvPr>
        </p:nvSpPr>
        <p:spPr>
          <a:xfrm>
            <a:off x="7740000" y="5688000"/>
            <a:ext cx="2052000" cy="2160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AF047C06-1A0E-44BA-8BA3-1A0E89591E0D}"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 name=""/>
          <p:cNvGrpSpPr/>
          <p:nvPr/>
        </p:nvGrpSpPr>
        <p:grpSpPr>
          <a:xfrm>
            <a:off x="8540280" y="5065920"/>
            <a:ext cx="1280160" cy="548640"/>
            <a:chOff x="8540280" y="5065920"/>
            <a:chExt cx="1280160" cy="548640"/>
          </a:xfrm>
        </p:grpSpPr>
        <p:sp>
          <p:nvSpPr>
            <p:cNvPr id="10" name=""/>
            <p:cNvSpPr/>
            <p:nvPr/>
          </p:nvSpPr>
          <p:spPr>
            <a:xfrm flipV="1" rot="21598800">
              <a:off x="9637560" y="5431680"/>
              <a:ext cx="182880" cy="182880"/>
            </a:xfrm>
            <a:prstGeom prst="ellipse">
              <a:avLst/>
            </a:prstGeom>
            <a:blipFill rotWithShape="0">
              <a:blip r:embed="rId2"/>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 name=""/>
            <p:cNvSpPr/>
            <p:nvPr/>
          </p:nvSpPr>
          <p:spPr>
            <a:xfrm flipV="1" rot="21598800">
              <a:off x="9271800" y="5431680"/>
              <a:ext cx="182880" cy="182880"/>
            </a:xfrm>
            <a:prstGeom prst="ellipse">
              <a:avLst/>
            </a:prstGeom>
            <a:blipFill rotWithShape="0">
              <a:blip r:embed="rId3"/>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 name=""/>
            <p:cNvSpPr/>
            <p:nvPr/>
          </p:nvSpPr>
          <p:spPr>
            <a:xfrm flipV="1" rot="21598800">
              <a:off x="8906400" y="5431680"/>
              <a:ext cx="182880" cy="182880"/>
            </a:xfrm>
            <a:prstGeom prst="ellipse">
              <a:avLst/>
            </a:prstGeom>
            <a:blipFill rotWithShape="0">
              <a:blip r:embed="rId4"/>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3" name=""/>
            <p:cNvSpPr/>
            <p:nvPr/>
          </p:nvSpPr>
          <p:spPr>
            <a:xfrm flipV="1" rot="21598800">
              <a:off x="8540280" y="5431680"/>
              <a:ext cx="182880" cy="182880"/>
            </a:xfrm>
            <a:prstGeom prst="ellipse">
              <a:avLst/>
            </a:prstGeom>
            <a:blipFill rotWithShape="0">
              <a:blip r:embed="rId5"/>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4" name=""/>
            <p:cNvSpPr/>
            <p:nvPr/>
          </p:nvSpPr>
          <p:spPr>
            <a:xfrm flipV="1" rot="21598800">
              <a:off x="8540280" y="5065920"/>
              <a:ext cx="182880" cy="182880"/>
            </a:xfrm>
            <a:prstGeom prst="ellipse">
              <a:avLst/>
            </a:prstGeom>
            <a:blipFill rotWithShape="0">
              <a:blip r:embed="rId6"/>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5" name=""/>
            <p:cNvSpPr/>
            <p:nvPr/>
          </p:nvSpPr>
          <p:spPr>
            <a:xfrm flipV="1" rot="21598800">
              <a:off x="8906400" y="5065920"/>
              <a:ext cx="182880" cy="182880"/>
            </a:xfrm>
            <a:prstGeom prst="ellipse">
              <a:avLst/>
            </a:prstGeom>
            <a:blipFill rotWithShape="0">
              <a:blip r:embed="rId7"/>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6" name=""/>
            <p:cNvSpPr/>
            <p:nvPr/>
          </p:nvSpPr>
          <p:spPr>
            <a:xfrm flipV="1" rot="21598800">
              <a:off x="9271800" y="5066280"/>
              <a:ext cx="182880" cy="182880"/>
            </a:xfrm>
            <a:prstGeom prst="ellipse">
              <a:avLst/>
            </a:prstGeom>
            <a:blipFill rotWithShape="0">
              <a:blip r:embed="rId8"/>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7" name=""/>
            <p:cNvSpPr/>
            <p:nvPr/>
          </p:nvSpPr>
          <p:spPr>
            <a:xfrm flipV="1" rot="21598800">
              <a:off x="9637560" y="5065920"/>
              <a:ext cx="182880" cy="182880"/>
            </a:xfrm>
            <a:prstGeom prst="ellipse">
              <a:avLst/>
            </a:prstGeom>
            <a:blipFill rotWithShape="0">
              <a:blip r:embed="rId9"/>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18" name=""/>
          <p:cNvSpPr/>
          <p:nvPr/>
        </p:nvSpPr>
        <p:spPr>
          <a:xfrm>
            <a:off x="1499760" y="1774080"/>
            <a:ext cx="2926080" cy="292608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9" name=""/>
          <p:cNvSpPr/>
          <p:nvPr/>
        </p:nvSpPr>
        <p:spPr>
          <a:xfrm>
            <a:off x="1225080" y="1134360"/>
            <a:ext cx="1189080" cy="118836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0" name=""/>
          <p:cNvSpPr/>
          <p:nvPr/>
        </p:nvSpPr>
        <p:spPr>
          <a:xfrm>
            <a:off x="3420000" y="4242960"/>
            <a:ext cx="640080" cy="64008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pic>
        <p:nvPicPr>
          <p:cNvPr id="21" name="" descr=""/>
          <p:cNvPicPr/>
          <p:nvPr/>
        </p:nvPicPr>
        <p:blipFill>
          <a:blip r:embed="rId10">
            <a:extLst>
              <a:ext uri="{96DAC541-7B7A-43D3-8B79-37D633B846F1}">
                <asvg:svgBlip xmlns:asvg="http://schemas.microsoft.com/office/drawing/2016/SVG/main" r:embed="rId11"/>
              </a:ext>
            </a:extLst>
          </a:blip>
          <a:stretch/>
        </p:blipFill>
        <p:spPr>
          <a:xfrm>
            <a:off x="4349520" y="792360"/>
            <a:ext cx="5526000" cy="4145400"/>
          </a:xfrm>
          <a:prstGeom prst="rect">
            <a:avLst/>
          </a:prstGeom>
          <a:noFill/>
          <a:ln w="0">
            <a:noFill/>
          </a:ln>
        </p:spPr>
      </p:pic>
      <p:sp>
        <p:nvSpPr>
          <p:cNvPr id="22"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23" name="PlaceHolder 2"/>
          <p:cNvSpPr>
            <a:spLocks noGrp="1"/>
          </p:cNvSpPr>
          <p:nvPr>
            <p:ph type="body"/>
          </p:nvPr>
        </p:nvSpPr>
        <p:spPr>
          <a:xfrm>
            <a:off x="468000" y="1800000"/>
            <a:ext cx="61632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24" name="PlaceHolder 3"/>
          <p:cNvSpPr>
            <a:spLocks noGrp="1"/>
          </p:cNvSpPr>
          <p:nvPr>
            <p:ph type="dt" idx="4"/>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25" name="PlaceHolder 4"/>
          <p:cNvSpPr>
            <a:spLocks noGrp="1"/>
          </p:cNvSpPr>
          <p:nvPr>
            <p:ph type="ftr" idx="5"/>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26" name="PlaceHolder 5"/>
          <p:cNvSpPr>
            <a:spLocks noGrp="1"/>
          </p:cNvSpPr>
          <p:nvPr>
            <p:ph type="sldNum" idx="6"/>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E5B601AE-ECB6-4002-8E3E-AAB3112C2D16}"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2" r:id="rId1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9"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30"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62814"/>
                </a:solidFill>
                <a:uFillTx/>
                <a:latin typeface="Noto Sans"/>
              </a:rPr>
              <a:t>Pulse para editar el formato del texto de título</a:t>
            </a:r>
            <a:endParaRPr b="1" lang="es-ES" sz="4400" strike="noStrike" u="none">
              <a:solidFill>
                <a:srgbClr val="062814"/>
              </a:solidFill>
              <a:uFillTx/>
              <a:latin typeface="Noto Sans"/>
            </a:endParaRPr>
          </a:p>
        </p:txBody>
      </p:sp>
      <p:sp>
        <p:nvSpPr>
          <p:cNvPr id="31" name="PlaceHolder 2"/>
          <p:cNvSpPr>
            <a:spLocks noGrp="1"/>
          </p:cNvSpPr>
          <p:nvPr>
            <p:ph type="body"/>
          </p:nvPr>
        </p:nvSpPr>
        <p:spPr>
          <a:xfrm>
            <a:off x="360000" y="1800000"/>
            <a:ext cx="91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Pulse para editar el formato de texto del esquema</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Segundo nivel del esquema</a:t>
            </a:r>
            <a:endParaRPr b="0" lang="es-ES" sz="2800" strike="noStrike" u="none">
              <a:solidFill>
                <a:srgbClr val="062814"/>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62814"/>
                </a:solidFill>
                <a:uFillTx/>
                <a:latin typeface="Noto Sans"/>
              </a:rPr>
              <a:t>Tercer nivel del esquema</a:t>
            </a:r>
            <a:endParaRPr b="0" lang="es-ES" sz="2400" strike="noStrike" u="none">
              <a:solidFill>
                <a:srgbClr val="062814"/>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62814"/>
                </a:solidFill>
                <a:uFillTx/>
                <a:latin typeface="Noto Sans"/>
              </a:rPr>
              <a:t>Cuarto nivel del esquema</a:t>
            </a:r>
            <a:endParaRPr b="0" lang="es-ES" sz="2000" strike="noStrike" u="none">
              <a:solidFill>
                <a:srgbClr val="062814"/>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62814"/>
                </a:solidFill>
                <a:uFillTx/>
                <a:latin typeface="Noto Sans"/>
              </a:rPr>
              <a:t>Quinto nivel del esquema</a:t>
            </a:r>
            <a:endParaRPr b="0" lang="es-ES" sz="2000" strike="noStrike" u="none">
              <a:solidFill>
                <a:srgbClr val="062814"/>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62814"/>
                </a:solidFill>
                <a:uFillTx/>
                <a:latin typeface="Noto Sans"/>
              </a:rPr>
              <a:t>Sexto nivel del esquema</a:t>
            </a:r>
            <a:endParaRPr b="0" lang="es-ES" sz="2000" strike="noStrike" u="none">
              <a:solidFill>
                <a:srgbClr val="062814"/>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62814"/>
                </a:solidFill>
                <a:uFillTx/>
                <a:latin typeface="Noto Sans"/>
              </a:rPr>
              <a:t>Séptimo nivel del esquema</a:t>
            </a:r>
            <a:endParaRPr b="0" lang="es-ES" sz="2000" strike="noStrike" u="none">
              <a:solidFill>
                <a:srgbClr val="062814"/>
              </a:solidFill>
              <a:uFillTx/>
              <a:latin typeface="Noto Sans"/>
            </a:endParaRPr>
          </a:p>
        </p:txBody>
      </p:sp>
      <p:sp>
        <p:nvSpPr>
          <p:cNvPr id="32" name="PlaceHolder 3"/>
          <p:cNvSpPr>
            <a:spLocks noGrp="1"/>
          </p:cNvSpPr>
          <p:nvPr>
            <p:ph type="dt" idx="7"/>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33" name="PlaceHolder 4"/>
          <p:cNvSpPr>
            <a:spLocks noGrp="1"/>
          </p:cNvSpPr>
          <p:nvPr>
            <p:ph type="ftr" idx="8"/>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34" name="PlaceHolder 5"/>
          <p:cNvSpPr>
            <a:spLocks noGrp="1"/>
          </p:cNvSpPr>
          <p:nvPr>
            <p:ph type="sldNum" idx="9"/>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5F1140C2-04A8-4BE8-962C-00BD3008A797}"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4"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7" name=""/>
          <p:cNvSpPr/>
          <p:nvPr/>
        </p:nvSpPr>
        <p:spPr>
          <a:xfrm>
            <a:off x="3931920" y="466344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38" name="PlaceHolder 1"/>
          <p:cNvSpPr>
            <a:spLocks noGrp="1"/>
          </p:cNvSpPr>
          <p:nvPr>
            <p:ph type="title"/>
          </p:nvPr>
        </p:nvSpPr>
        <p:spPr>
          <a:xfrm>
            <a:off x="540000" y="373356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62814"/>
                </a:solidFill>
                <a:uFillTx/>
                <a:latin typeface="Noto Sans"/>
              </a:rPr>
              <a:t>Pulse para editar el formato del texto de título</a:t>
            </a:r>
            <a:endParaRPr b="1" lang="es-ES" sz="4400" strike="noStrike" u="none">
              <a:solidFill>
                <a:srgbClr val="062814"/>
              </a:solidFill>
              <a:uFillTx/>
              <a:latin typeface="Noto Sans"/>
            </a:endParaRPr>
          </a:p>
        </p:txBody>
      </p:sp>
      <p:sp>
        <p:nvSpPr>
          <p:cNvPr id="39" name="PlaceHolder 2"/>
          <p:cNvSpPr>
            <a:spLocks noGrp="1"/>
          </p:cNvSpPr>
          <p:nvPr>
            <p:ph type="body"/>
          </p:nvPr>
        </p:nvSpPr>
        <p:spPr>
          <a:xfrm>
            <a:off x="540000" y="131760"/>
            <a:ext cx="9072000" cy="1308240"/>
          </a:xfrm>
          <a:prstGeom prst="rect">
            <a:avLst/>
          </a:prstGeom>
          <a:noFill/>
          <a:ln w="0">
            <a:noFill/>
          </a:ln>
        </p:spPr>
        <p:txBody>
          <a:bodyPr lIns="0" rIns="0" tIns="0" bIns="0" anchor="t">
            <a:normAutofit fontScale="40000" lnSpcReduction="19999"/>
          </a:bodyPr>
          <a:p>
            <a:pPr marL="432000" indent="-324000" algn="ctr">
              <a:spcBef>
                <a:spcPts val="1417"/>
              </a:spcBef>
              <a:buClr>
                <a:srgbClr val="000000"/>
              </a:buClr>
              <a:buSzPct val="45000"/>
              <a:buFont typeface="Wingdings" charset="2"/>
              <a:buChar char=""/>
            </a:pPr>
            <a:r>
              <a:rPr b="0" lang="es-ES" sz="3200" strike="noStrike" u="none">
                <a:solidFill>
                  <a:srgbClr val="062814"/>
                </a:solidFill>
                <a:uFillTx/>
                <a:latin typeface="Noto Sans"/>
              </a:rPr>
              <a:t>Pulse para editar el formato de texto del esquema</a:t>
            </a:r>
            <a:endParaRPr b="0" lang="es-ES" sz="3200" strike="noStrike" u="none">
              <a:solidFill>
                <a:srgbClr val="062814"/>
              </a:solidFill>
              <a:uFillTx/>
              <a:latin typeface="Noto Sans"/>
            </a:endParaRPr>
          </a:p>
          <a:p>
            <a:pPr lvl="1" marL="864000" indent="-324000" algn="ctr">
              <a:spcBef>
                <a:spcPts val="1134"/>
              </a:spcBef>
              <a:buClr>
                <a:srgbClr val="000000"/>
              </a:buClr>
              <a:buSzPct val="75000"/>
              <a:buFont typeface="Symbol" charset="2"/>
              <a:buChar char=""/>
            </a:pPr>
            <a:r>
              <a:rPr b="0" lang="es-ES" sz="2800" strike="noStrike" u="none">
                <a:solidFill>
                  <a:srgbClr val="062814"/>
                </a:solidFill>
                <a:uFillTx/>
                <a:latin typeface="Noto Sans"/>
              </a:rPr>
              <a:t>Segundo nivel del esquema</a:t>
            </a:r>
            <a:endParaRPr b="0" lang="es-ES" sz="2800" strike="noStrike" u="none">
              <a:solidFill>
                <a:srgbClr val="062814"/>
              </a:solidFill>
              <a:uFillTx/>
              <a:latin typeface="Noto Sans"/>
            </a:endParaRPr>
          </a:p>
          <a:p>
            <a:pPr lvl="2" marL="1296000" indent="-288000" algn="ctr">
              <a:spcBef>
                <a:spcPts val="850"/>
              </a:spcBef>
              <a:buClr>
                <a:srgbClr val="000000"/>
              </a:buClr>
              <a:buSzPct val="45000"/>
              <a:buFont typeface="Wingdings" charset="2"/>
              <a:buChar char=""/>
            </a:pPr>
            <a:r>
              <a:rPr b="0" lang="es-ES" sz="2400" strike="noStrike" u="none">
                <a:solidFill>
                  <a:srgbClr val="062814"/>
                </a:solidFill>
                <a:uFillTx/>
                <a:latin typeface="Noto Sans"/>
              </a:rPr>
              <a:t>Tercer nivel del esquema</a:t>
            </a:r>
            <a:endParaRPr b="0" lang="es-ES" sz="2400" strike="noStrike" u="none">
              <a:solidFill>
                <a:srgbClr val="062814"/>
              </a:solidFill>
              <a:uFillTx/>
              <a:latin typeface="Noto Sans"/>
            </a:endParaRPr>
          </a:p>
          <a:p>
            <a:pPr lvl="3" marL="1728000" indent="-216000" algn="ctr">
              <a:spcBef>
                <a:spcPts val="567"/>
              </a:spcBef>
              <a:buClr>
                <a:srgbClr val="000000"/>
              </a:buClr>
              <a:buSzPct val="75000"/>
              <a:buFont typeface="Symbol" charset="2"/>
              <a:buChar char=""/>
            </a:pPr>
            <a:r>
              <a:rPr b="0" lang="es-ES" sz="2000" strike="noStrike" u="none">
                <a:solidFill>
                  <a:srgbClr val="062814"/>
                </a:solidFill>
                <a:uFillTx/>
                <a:latin typeface="Noto Sans"/>
              </a:rPr>
              <a:t>Cuarto nivel del esquema</a:t>
            </a:r>
            <a:endParaRPr b="0" lang="es-ES" sz="2000" strike="noStrike" u="none">
              <a:solidFill>
                <a:srgbClr val="062814"/>
              </a:solidFill>
              <a:uFillTx/>
              <a:latin typeface="Noto Sans"/>
            </a:endParaRPr>
          </a:p>
          <a:p>
            <a:pPr lvl="4" marL="2160000" indent="-216000" algn="ctr">
              <a:spcBef>
                <a:spcPts val="283"/>
              </a:spcBef>
              <a:buClr>
                <a:srgbClr val="000000"/>
              </a:buClr>
              <a:buSzPct val="45000"/>
              <a:buFont typeface="Wingdings" charset="2"/>
              <a:buChar char=""/>
            </a:pPr>
            <a:r>
              <a:rPr b="0" lang="es-ES" sz="2000" strike="noStrike" u="none">
                <a:solidFill>
                  <a:srgbClr val="062814"/>
                </a:solidFill>
                <a:uFillTx/>
                <a:latin typeface="Noto Sans"/>
              </a:rPr>
              <a:t>Quinto nivel del esquema</a:t>
            </a:r>
            <a:endParaRPr b="0" lang="es-ES" sz="2000" strike="noStrike" u="none">
              <a:solidFill>
                <a:srgbClr val="062814"/>
              </a:solidFill>
              <a:uFillTx/>
              <a:latin typeface="Noto Sans"/>
            </a:endParaRPr>
          </a:p>
          <a:p>
            <a:pPr lvl="5" marL="2592000" indent="-216000" algn="ctr">
              <a:spcBef>
                <a:spcPts val="283"/>
              </a:spcBef>
              <a:buClr>
                <a:srgbClr val="000000"/>
              </a:buClr>
              <a:buSzPct val="45000"/>
              <a:buFont typeface="Wingdings" charset="2"/>
              <a:buChar char=""/>
            </a:pPr>
            <a:r>
              <a:rPr b="0" lang="es-ES" sz="2000" strike="noStrike" u="none">
                <a:solidFill>
                  <a:srgbClr val="062814"/>
                </a:solidFill>
                <a:uFillTx/>
                <a:latin typeface="Noto Sans"/>
              </a:rPr>
              <a:t>Sexto nivel del esquema</a:t>
            </a:r>
            <a:endParaRPr b="0" lang="es-ES" sz="2000" strike="noStrike" u="none">
              <a:solidFill>
                <a:srgbClr val="062814"/>
              </a:solidFill>
              <a:uFillTx/>
              <a:latin typeface="Noto Sans"/>
            </a:endParaRPr>
          </a:p>
          <a:p>
            <a:pPr lvl="6" marL="3024000" indent="-216000" algn="ctr">
              <a:spcBef>
                <a:spcPts val="283"/>
              </a:spcBef>
              <a:buClr>
                <a:srgbClr val="000000"/>
              </a:buClr>
              <a:buSzPct val="45000"/>
              <a:buFont typeface="Wingdings" charset="2"/>
              <a:buChar char=""/>
            </a:pPr>
            <a:r>
              <a:rPr b="0" lang="es-ES" sz="2000" strike="noStrike" u="none">
                <a:solidFill>
                  <a:srgbClr val="062814"/>
                </a:solidFill>
                <a:uFillTx/>
                <a:latin typeface="Noto Sans"/>
              </a:rPr>
              <a:t>Séptimo nivel del esquema</a:t>
            </a:r>
            <a:endParaRPr b="0" lang="es-ES" sz="2000" strike="noStrike" u="none">
              <a:solidFill>
                <a:srgbClr val="062814"/>
              </a:solidFill>
              <a:uFillTx/>
              <a:latin typeface="Noto Sans"/>
            </a:endParaRPr>
          </a:p>
        </p:txBody>
      </p:sp>
      <p:sp>
        <p:nvSpPr>
          <p:cNvPr id="40" name="PlaceHolder 3"/>
          <p:cNvSpPr>
            <a:spLocks noGrp="1"/>
          </p:cNvSpPr>
          <p:nvPr>
            <p:ph type="dt" idx="10"/>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41" name="PlaceHolder 4"/>
          <p:cNvSpPr>
            <a:spLocks noGrp="1"/>
          </p:cNvSpPr>
          <p:nvPr>
            <p:ph type="ftr" idx="11"/>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42" name="PlaceHolder 5"/>
          <p:cNvSpPr>
            <a:spLocks noGrp="1"/>
          </p:cNvSpPr>
          <p:nvPr>
            <p:ph type="sldNum" idx="12"/>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0D6C11B9-1F65-4B16-B5D2-95284EA9AC25}"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6"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
          <p:cNvSpPr/>
          <p:nvPr/>
        </p:nvSpPr>
        <p:spPr>
          <a:xfrm>
            <a:off x="2103480" y="3658320"/>
            <a:ext cx="164592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46" name=""/>
          <p:cNvSpPr/>
          <p:nvPr/>
        </p:nvSpPr>
        <p:spPr>
          <a:xfrm>
            <a:off x="823320" y="-273240"/>
            <a:ext cx="2194560" cy="2194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47" name=""/>
          <p:cNvSpPr/>
          <p:nvPr/>
        </p:nvSpPr>
        <p:spPr>
          <a:xfrm>
            <a:off x="7955640" y="3109680"/>
            <a:ext cx="2194560" cy="2194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48" name=""/>
          <p:cNvSpPr/>
          <p:nvPr/>
        </p:nvSpPr>
        <p:spPr>
          <a:xfrm>
            <a:off x="9601560" y="915120"/>
            <a:ext cx="164592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grpSp>
        <p:nvGrpSpPr>
          <p:cNvPr id="49" name=""/>
          <p:cNvGrpSpPr/>
          <p:nvPr/>
        </p:nvGrpSpPr>
        <p:grpSpPr>
          <a:xfrm>
            <a:off x="3836880" y="1151280"/>
            <a:ext cx="2339640" cy="4334400"/>
            <a:chOff x="3836880" y="1151280"/>
            <a:chExt cx="2339640" cy="4334400"/>
          </a:xfrm>
        </p:grpSpPr>
        <p:sp>
          <p:nvSpPr>
            <p:cNvPr id="50" name=""/>
            <p:cNvSpPr/>
            <p:nvPr/>
          </p:nvSpPr>
          <p:spPr>
            <a:xfrm flipH="1" flipV="1" rot="5400000">
              <a:off x="4759200" y="3807000"/>
              <a:ext cx="1371600" cy="1463040"/>
            </a:xfrm>
            <a:prstGeom prst="parallelogram">
              <a:avLst>
                <a:gd name="adj" fmla="val 50564"/>
              </a:avLst>
            </a:prstGeom>
            <a:solidFill>
              <a:srgbClr val="dee2e6"/>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1" name=""/>
            <p:cNvSpPr/>
            <p:nvPr/>
          </p:nvSpPr>
          <p:spPr>
            <a:xfrm flipH="1" flipV="1" rot="5400000">
              <a:off x="3882600" y="2718720"/>
              <a:ext cx="1371600" cy="1463040"/>
            </a:xfrm>
            <a:prstGeom prst="parallelogram">
              <a:avLst>
                <a:gd name="adj" fmla="val 50564"/>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2" name=""/>
            <p:cNvSpPr/>
            <p:nvPr/>
          </p:nvSpPr>
          <p:spPr>
            <a:xfrm flipH="1" flipV="1" rot="5400000">
              <a:off x="4759200" y="2456640"/>
              <a:ext cx="1371600" cy="1463040"/>
            </a:xfrm>
            <a:prstGeom prst="parallelogram">
              <a:avLst>
                <a:gd name="adj" fmla="val 50564"/>
              </a:avLst>
            </a:prstGeom>
            <a:solidFill>
              <a:srgbClr val="adb5b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3" name=""/>
            <p:cNvSpPr/>
            <p:nvPr/>
          </p:nvSpPr>
          <p:spPr>
            <a:xfrm flipH="1" flipV="1" rot="5400000">
              <a:off x="3882600" y="1368000"/>
              <a:ext cx="1371600" cy="1463040"/>
            </a:xfrm>
            <a:prstGeom prst="parallelogram">
              <a:avLst>
                <a:gd name="adj" fmla="val 50564"/>
              </a:avLst>
            </a:prstGeom>
            <a:solidFill>
              <a:srgbClr val="6c757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54" name=""/>
            <p:cNvSpPr/>
            <p:nvPr/>
          </p:nvSpPr>
          <p:spPr>
            <a:xfrm flipH="1" flipV="1" rot="5400000">
              <a:off x="4759200" y="1105560"/>
              <a:ext cx="1371600" cy="1463040"/>
            </a:xfrm>
            <a:prstGeom prst="parallelogram">
              <a:avLst>
                <a:gd name="adj" fmla="val 50564"/>
              </a:avLst>
            </a:prstGeom>
            <a:solidFill>
              <a:srgbClr val="343a40"/>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55" name=""/>
            <p:cNvSpPr/>
            <p:nvPr/>
          </p:nvSpPr>
          <p:spPr>
            <a:xfrm flipH="1" flipV="1" rot="5400000">
              <a:off x="3882600" y="4068360"/>
              <a:ext cx="1371600" cy="1463040"/>
            </a:xfrm>
            <a:prstGeom prst="parallelogram">
              <a:avLst>
                <a:gd name="adj" fmla="val 50564"/>
              </a:avLst>
            </a:prstGeom>
            <a:solidFill>
              <a:srgbClr val="e9ecef"/>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56"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57"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58" name="PlaceHolder 3"/>
          <p:cNvSpPr>
            <a:spLocks noGrp="1"/>
          </p:cNvSpPr>
          <p:nvPr>
            <p:ph type="dt" idx="13"/>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59" name="PlaceHolder 4"/>
          <p:cNvSpPr>
            <a:spLocks noGrp="1"/>
          </p:cNvSpPr>
          <p:nvPr>
            <p:ph type="ftr" idx="14"/>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60" name="PlaceHolder 5"/>
          <p:cNvSpPr>
            <a:spLocks noGrp="1"/>
          </p:cNvSpPr>
          <p:nvPr>
            <p:ph type="sldNum" idx="15"/>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0EF1CB7C-16BB-48D7-BE56-50F9089F62C9}"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
          <p:cNvSpPr/>
          <p:nvPr/>
        </p:nvSpPr>
        <p:spPr>
          <a:xfrm>
            <a:off x="677196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2" name=""/>
          <p:cNvSpPr/>
          <p:nvPr/>
        </p:nvSpPr>
        <p:spPr>
          <a:xfrm>
            <a:off x="5813280" y="38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3" name=""/>
          <p:cNvSpPr/>
          <p:nvPr/>
        </p:nvSpPr>
        <p:spPr>
          <a:xfrm>
            <a:off x="7589520" y="2560320"/>
            <a:ext cx="2194560" cy="2194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64" name=""/>
          <p:cNvSpPr/>
          <p:nvPr/>
        </p:nvSpPr>
        <p:spPr>
          <a:xfrm>
            <a:off x="3200400" y="73152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65" name=""/>
          <p:cNvSpPr/>
          <p:nvPr/>
        </p:nvSpPr>
        <p:spPr>
          <a:xfrm>
            <a:off x="1424160" y="348912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66" name=""/>
          <p:cNvSpPr/>
          <p:nvPr/>
        </p:nvSpPr>
        <p:spPr>
          <a:xfrm>
            <a:off x="700920" y="1900080"/>
            <a:ext cx="1402200" cy="1848960"/>
          </a:xfrm>
          <a:custGeom>
            <a:avLst/>
            <a:gdLst/>
            <a:ahLst/>
            <a:rect l="0" t="0" r="r" b="b"/>
            <a:pathLst>
              <a:path fill="none" w="3895" h="5136">
                <a:moveTo>
                  <a:pt x="339" y="0"/>
                </a:moveTo>
                <a:cubicBezTo>
                  <a:pt x="-931" y="2540"/>
                  <a:pt x="1609" y="5588"/>
                  <a:pt x="3895" y="5080"/>
                </a:cubicBezTo>
              </a:path>
            </a:pathLst>
          </a:custGeom>
          <a:ln w="36720">
            <a:solidFill>
              <a:srgbClr val="666666"/>
            </a:solidFill>
            <a:custDash>
              <a:ds d="600000" sp="300000"/>
            </a:custDash>
            <a:round/>
            <a:headEnd len="med" type="triangle" w="med"/>
            <a:tailEnd len="med" type="triangle" w="med"/>
          </a:ln>
        </p:spPr>
        <p:txBody>
          <a:bodyPr lIns="108360" rIns="108360" tIns="63360" bIns="63360" anchor="ctr">
            <a:noAutofit/>
          </a:bodyPr>
          <a:p>
            <a:endParaRPr b="0" lang="es-ES" sz="1800" strike="noStrike" u="none">
              <a:solidFill>
                <a:srgbClr val="000000"/>
              </a:solidFill>
              <a:uFillTx/>
              <a:latin typeface="Noto Sans"/>
            </a:endParaRPr>
          </a:p>
        </p:txBody>
      </p:sp>
      <p:sp>
        <p:nvSpPr>
          <p:cNvPr id="67" name=""/>
          <p:cNvSpPr/>
          <p:nvPr/>
        </p:nvSpPr>
        <p:spPr>
          <a:xfrm>
            <a:off x="3931920" y="201168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med" type="triangle" w="med"/>
            <a:tailEnd len="med" type="triangle" w="med"/>
          </a:ln>
        </p:spPr>
        <p:txBody>
          <a:bodyPr lIns="108360" rIns="108360" tIns="63360" bIns="63360" anchor="ctr">
            <a:noAutofit/>
          </a:bodyPr>
          <a:p>
            <a:endParaRPr b="0" lang="es-ES" sz="1800" strike="noStrike" u="none">
              <a:solidFill>
                <a:srgbClr val="000000"/>
              </a:solidFill>
              <a:uFillTx/>
              <a:latin typeface="Noto Sans"/>
            </a:endParaRPr>
          </a:p>
        </p:txBody>
      </p:sp>
      <p:sp>
        <p:nvSpPr>
          <p:cNvPr id="68" name=""/>
          <p:cNvSpPr/>
          <p:nvPr/>
        </p:nvSpPr>
        <p:spPr>
          <a:xfrm>
            <a:off x="7724880" y="2103120"/>
            <a:ext cx="779040" cy="1463040"/>
          </a:xfrm>
          <a:custGeom>
            <a:avLst/>
            <a:gdLst/>
            <a:ahLst/>
            <a:rect l="0" t="0" r="r" b="b"/>
            <a:pathLst>
              <a:path fill="none" w="2164" h="4064">
                <a:moveTo>
                  <a:pt x="132" y="4064"/>
                </a:moveTo>
                <a:cubicBezTo>
                  <a:pt x="-630" y="3301"/>
                  <a:pt x="2164" y="3555"/>
                  <a:pt x="2164" y="2794"/>
                </a:cubicBezTo>
                <a:cubicBezTo>
                  <a:pt x="2164" y="2032"/>
                  <a:pt x="-630" y="1778"/>
                  <a:pt x="132" y="2540"/>
                </a:cubicBezTo>
                <a:cubicBezTo>
                  <a:pt x="894" y="3302"/>
                  <a:pt x="1910" y="508"/>
                  <a:pt x="894" y="0"/>
                </a:cubicBezTo>
              </a:path>
            </a:pathLst>
          </a:custGeom>
          <a:ln w="36720">
            <a:solidFill>
              <a:srgbClr val="666666"/>
            </a:solidFill>
            <a:custDash>
              <a:ds d="600000" sp="300000"/>
            </a:custDash>
            <a:round/>
            <a:headEnd len="med" type="triangle" w="med"/>
            <a:tailEnd len="med" type="triangle" w="med"/>
          </a:ln>
        </p:spPr>
        <p:txBody>
          <a:bodyPr lIns="108360" rIns="108360" tIns="63360" bIns="63360" anchor="ctr">
            <a:noAutofit/>
          </a:bodyPr>
          <a:p>
            <a:endParaRPr b="0" lang="es-ES" sz="1800" strike="noStrike" u="none">
              <a:solidFill>
                <a:srgbClr val="000000"/>
              </a:solidFill>
              <a:uFillTx/>
              <a:latin typeface="Noto Sans"/>
            </a:endParaRPr>
          </a:p>
        </p:txBody>
      </p:sp>
      <p:sp>
        <p:nvSpPr>
          <p:cNvPr id="69" name=""/>
          <p:cNvSpPr/>
          <p:nvPr/>
        </p:nvSpPr>
        <p:spPr>
          <a:xfrm>
            <a:off x="1424160" y="47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70" name=""/>
          <p:cNvSpPr/>
          <p:nvPr/>
        </p:nvSpPr>
        <p:spPr>
          <a:xfrm>
            <a:off x="288720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71"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72"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73" name="PlaceHolder 3"/>
          <p:cNvSpPr>
            <a:spLocks noGrp="1"/>
          </p:cNvSpPr>
          <p:nvPr>
            <p:ph type="dt" idx="16"/>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74" name="PlaceHolder 4"/>
          <p:cNvSpPr>
            <a:spLocks noGrp="1"/>
          </p:cNvSpPr>
          <p:nvPr>
            <p:ph type="ftr" idx="17"/>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75" name="PlaceHolder 5"/>
          <p:cNvSpPr>
            <a:spLocks noGrp="1"/>
          </p:cNvSpPr>
          <p:nvPr>
            <p:ph type="sldNum" idx="18"/>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24AB2E3A-B9AF-47B0-A7D8-5128390A6419}"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6" name=""/>
          <p:cNvGrpSpPr/>
          <p:nvPr/>
        </p:nvGrpSpPr>
        <p:grpSpPr>
          <a:xfrm>
            <a:off x="2982960" y="1548000"/>
            <a:ext cx="5982480" cy="3187440"/>
            <a:chOff x="2982960" y="1548000"/>
            <a:chExt cx="5982480" cy="3187440"/>
          </a:xfrm>
        </p:grpSpPr>
        <p:sp>
          <p:nvSpPr>
            <p:cNvPr id="77" name=""/>
            <p:cNvSpPr/>
            <p:nvPr/>
          </p:nvSpPr>
          <p:spPr>
            <a:xfrm>
              <a:off x="3570480" y="1888200"/>
              <a:ext cx="4927320" cy="262332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78" name=""/>
            <p:cNvSpPr/>
            <p:nvPr/>
          </p:nvSpPr>
          <p:spPr>
            <a:xfrm>
              <a:off x="3763800" y="1585440"/>
              <a:ext cx="4927320" cy="2623320"/>
            </a:xfrm>
            <a:prstGeom prst="rect">
              <a:avLst/>
            </a:prstGeom>
            <a:noFill/>
            <a:ln w="18360">
              <a:solidFill>
                <a:srgbClr val="000000"/>
              </a:solidFill>
              <a:round/>
            </a:ln>
          </p:spPr>
          <p:style>
            <a:lnRef idx="0"/>
            <a:fillRef idx="0"/>
            <a:effectRef idx="0"/>
            <a:fontRef idx="minor"/>
          </p:style>
          <p:txBody>
            <a:bodyPr wrap="none" lIns="99000" rIns="99000" tIns="54000" bIns="54000" anchor="ctr">
              <a:noAutofit/>
            </a:bodyPr>
            <a:p>
              <a:endParaRPr b="0" lang="es-ES" sz="1800" strike="noStrike" u="none">
                <a:solidFill>
                  <a:srgbClr val="000000"/>
                </a:solidFill>
                <a:uFillTx/>
                <a:latin typeface="Noto Sans"/>
              </a:endParaRPr>
            </a:p>
          </p:txBody>
        </p:sp>
        <p:sp>
          <p:nvSpPr>
            <p:cNvPr id="79" name=""/>
            <p:cNvSpPr txBox="1"/>
            <p:nvPr/>
          </p:nvSpPr>
          <p:spPr>
            <a:xfrm>
              <a:off x="3844800" y="1548000"/>
              <a:ext cx="1097280" cy="1474200"/>
            </a:xfrm>
            <a:prstGeom prst="rect">
              <a:avLst/>
            </a:prstGeom>
            <a:noFill/>
            <a:ln w="0">
              <a:noFill/>
            </a:ln>
          </p:spPr>
          <p:txBody>
            <a:bodyPr lIns="90000" rIns="90000" tIns="45000" bIns="45000" anchor="t">
              <a:noAutofit/>
            </a:bodyPr>
            <a:p>
              <a:r>
                <a:rPr b="0" lang="es-ES" sz="8000" strike="noStrike" u="none">
                  <a:solidFill>
                    <a:srgbClr val="000000"/>
                  </a:solidFill>
                  <a:uFillTx/>
                  <a:latin typeface="Noto Sans"/>
                </a:rPr>
                <a:t>“</a:t>
              </a:r>
              <a:endParaRPr b="0" lang="es-ES" sz="8000" strike="noStrike" u="none">
                <a:solidFill>
                  <a:srgbClr val="000000"/>
                </a:solidFill>
                <a:uFillTx/>
                <a:latin typeface="Noto Sans"/>
              </a:endParaRPr>
            </a:p>
          </p:txBody>
        </p:sp>
        <p:sp>
          <p:nvSpPr>
            <p:cNvPr id="80" name=""/>
            <p:cNvSpPr txBox="1"/>
            <p:nvPr/>
          </p:nvSpPr>
          <p:spPr>
            <a:xfrm>
              <a:off x="7868160" y="3399840"/>
              <a:ext cx="1097280" cy="1335600"/>
            </a:xfrm>
            <a:prstGeom prst="rect">
              <a:avLst/>
            </a:prstGeom>
            <a:noFill/>
            <a:ln w="0">
              <a:noFill/>
            </a:ln>
          </p:spPr>
          <p:txBody>
            <a:bodyPr lIns="90000" rIns="90000" tIns="45000" bIns="45000" anchor="t">
              <a:noAutofit/>
            </a:bodyPr>
            <a:p>
              <a:r>
                <a:rPr b="0" lang="es-ES" sz="7200" strike="noStrike" u="none">
                  <a:solidFill>
                    <a:srgbClr val="000000"/>
                  </a:solidFill>
                  <a:uFillTx/>
                  <a:latin typeface="Noto Sans"/>
                </a:rPr>
                <a:t>”</a:t>
              </a:r>
              <a:endParaRPr b="0" lang="es-ES" sz="7200" strike="noStrike" u="none">
                <a:solidFill>
                  <a:srgbClr val="000000"/>
                </a:solidFill>
                <a:uFillTx/>
                <a:latin typeface="Noto Sans"/>
              </a:endParaRPr>
            </a:p>
          </p:txBody>
        </p:sp>
        <p:sp>
          <p:nvSpPr>
            <p:cNvPr id="81" name=""/>
            <p:cNvSpPr/>
            <p:nvPr/>
          </p:nvSpPr>
          <p:spPr>
            <a:xfrm>
              <a:off x="2982960" y="4117320"/>
              <a:ext cx="1044720" cy="30276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grpSp>
        <p:nvGrpSpPr>
          <p:cNvPr id="82" name=""/>
          <p:cNvGrpSpPr/>
          <p:nvPr/>
        </p:nvGrpSpPr>
        <p:grpSpPr>
          <a:xfrm>
            <a:off x="-908280" y="-402480"/>
            <a:ext cx="3760920" cy="6495840"/>
            <a:chOff x="-908280" y="-402480"/>
            <a:chExt cx="3760920" cy="6495840"/>
          </a:xfrm>
        </p:grpSpPr>
        <p:sp>
          <p:nvSpPr>
            <p:cNvPr id="83" name=""/>
            <p:cNvSpPr/>
            <p:nvPr/>
          </p:nvSpPr>
          <p:spPr>
            <a:xfrm>
              <a:off x="-228960" y="51616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f8f9f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4" name=""/>
            <p:cNvSpPr/>
            <p:nvPr/>
          </p:nvSpPr>
          <p:spPr>
            <a:xfrm rot="5358000">
              <a:off x="-219960" y="4488840"/>
              <a:ext cx="1068480" cy="766440"/>
            </a:xfrm>
            <a:custGeom>
              <a:avLst/>
              <a:gdLst>
                <a:gd name="textAreaLeft" fmla="*/ 276840 w 1068480"/>
                <a:gd name="textAreaRight" fmla="*/ 791640 w 106848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85" name=""/>
            <p:cNvSpPr/>
            <p:nvPr/>
          </p:nvSpPr>
          <p:spPr>
            <a:xfrm>
              <a:off x="-228960" y="38260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2"/>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6" name=""/>
            <p:cNvSpPr/>
            <p:nvPr/>
          </p:nvSpPr>
          <p:spPr>
            <a:xfrm rot="5358000">
              <a:off x="-222120" y="315468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7" name=""/>
            <p:cNvSpPr/>
            <p:nvPr/>
          </p:nvSpPr>
          <p:spPr>
            <a:xfrm>
              <a:off x="455040" y="44776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88" name=""/>
            <p:cNvSpPr/>
            <p:nvPr/>
          </p:nvSpPr>
          <p:spPr>
            <a:xfrm rot="5358000">
              <a:off x="470520" y="382140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89" name=""/>
            <p:cNvSpPr/>
            <p:nvPr/>
          </p:nvSpPr>
          <p:spPr>
            <a:xfrm>
              <a:off x="1158840" y="51706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0" name=""/>
            <p:cNvSpPr/>
            <p:nvPr/>
          </p:nvSpPr>
          <p:spPr>
            <a:xfrm rot="5358000">
              <a:off x="461520" y="517068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1" name=""/>
            <p:cNvSpPr/>
            <p:nvPr/>
          </p:nvSpPr>
          <p:spPr>
            <a:xfrm flipH="1" rot="16242000">
              <a:off x="-232200" y="1793880"/>
              <a:ext cx="1068840" cy="766440"/>
            </a:xfrm>
            <a:custGeom>
              <a:avLst/>
              <a:gdLst>
                <a:gd name="textAreaLeft" fmla="*/ 276840 w 1068840"/>
                <a:gd name="textAreaRight" fmla="*/ 79164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212529"/>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92" name=""/>
            <p:cNvSpPr/>
            <p:nvPr/>
          </p:nvSpPr>
          <p:spPr>
            <a:xfrm flipH="1" rot="16242000">
              <a:off x="419760" y="2469960"/>
              <a:ext cx="1068840" cy="766440"/>
            </a:xfrm>
            <a:custGeom>
              <a:avLst/>
              <a:gdLst>
                <a:gd name="textAreaLeft" fmla="*/ 276840 w 1068840"/>
                <a:gd name="textAreaRight" fmla="*/ 79164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3" name=""/>
            <p:cNvSpPr/>
            <p:nvPr/>
          </p:nvSpPr>
          <p:spPr>
            <a:xfrm flipH="1">
              <a:off x="-250920" y="246204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94" name=""/>
            <p:cNvSpPr/>
            <p:nvPr/>
          </p:nvSpPr>
          <p:spPr>
            <a:xfrm>
              <a:off x="1107720" y="11350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5" name=""/>
            <p:cNvSpPr/>
            <p:nvPr/>
          </p:nvSpPr>
          <p:spPr>
            <a:xfrm rot="5358000">
              <a:off x="1103040" y="180180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96" name=""/>
            <p:cNvSpPr/>
            <p:nvPr/>
          </p:nvSpPr>
          <p:spPr>
            <a:xfrm rot="5358000">
              <a:off x="414360" y="114300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3"/>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7" name=""/>
            <p:cNvSpPr/>
            <p:nvPr/>
          </p:nvSpPr>
          <p:spPr>
            <a:xfrm>
              <a:off x="439200" y="181116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98" name=""/>
            <p:cNvSpPr/>
            <p:nvPr/>
          </p:nvSpPr>
          <p:spPr>
            <a:xfrm>
              <a:off x="423720" y="4510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99" name=""/>
            <p:cNvSpPr/>
            <p:nvPr/>
          </p:nvSpPr>
          <p:spPr>
            <a:xfrm rot="5358000">
              <a:off x="-246600" y="43884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00" name=""/>
            <p:cNvSpPr/>
            <p:nvPr/>
          </p:nvSpPr>
          <p:spPr>
            <a:xfrm rot="5358000">
              <a:off x="434880" y="-24624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101" name=""/>
            <p:cNvSpPr/>
            <p:nvPr/>
          </p:nvSpPr>
          <p:spPr>
            <a:xfrm>
              <a:off x="1779480" y="179460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02" name=""/>
            <p:cNvSpPr/>
            <p:nvPr/>
          </p:nvSpPr>
          <p:spPr>
            <a:xfrm>
              <a:off x="1106280" y="-25704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4"/>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03" name=""/>
            <p:cNvSpPr/>
            <p:nvPr/>
          </p:nvSpPr>
          <p:spPr>
            <a:xfrm>
              <a:off x="-908280" y="179064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5"/>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grpSp>
      <p:sp>
        <p:nvSpPr>
          <p:cNvPr id="104" name=""/>
          <p:cNvSpPr/>
          <p:nvPr/>
        </p:nvSpPr>
        <p:spPr>
          <a:xfrm>
            <a:off x="8538120" y="387720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sm" type="oval" w="lg"/>
            <a:tailEnd len="sm" type="oval" w="lg"/>
          </a:ln>
        </p:spPr>
        <p:txBody>
          <a:bodyPr lIns="108360" rIns="108360" tIns="63360" bIns="63360" anchor="ctr">
            <a:noAutofit/>
          </a:bodyPr>
          <a:p>
            <a:endParaRPr b="0" lang="es-ES" sz="1800" strike="noStrike" u="none">
              <a:solidFill>
                <a:srgbClr val="000000"/>
              </a:solidFill>
              <a:uFillTx/>
              <a:latin typeface="Noto Sans"/>
            </a:endParaRPr>
          </a:p>
        </p:txBody>
      </p:sp>
      <p:sp>
        <p:nvSpPr>
          <p:cNvPr id="105" name=""/>
          <p:cNvSpPr/>
          <p:nvPr/>
        </p:nvSpPr>
        <p:spPr>
          <a:xfrm>
            <a:off x="7372080" y="497448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06" name=""/>
          <p:cNvSpPr/>
          <p:nvPr/>
        </p:nvSpPr>
        <p:spPr>
          <a:xfrm>
            <a:off x="7868160" y="-329040"/>
            <a:ext cx="2011680" cy="20116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07" name="PlaceHolder 1"/>
          <p:cNvSpPr>
            <a:spLocks noGrp="1"/>
          </p:cNvSpPr>
          <p:nvPr>
            <p:ph type="title"/>
          </p:nvPr>
        </p:nvSpPr>
        <p:spPr>
          <a:xfrm>
            <a:off x="1800000" y="468000"/>
            <a:ext cx="7740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08" name="PlaceHolder 2"/>
          <p:cNvSpPr>
            <a:spLocks noGrp="1"/>
          </p:cNvSpPr>
          <p:nvPr>
            <p:ph type="body"/>
          </p:nvPr>
        </p:nvSpPr>
        <p:spPr>
          <a:xfrm>
            <a:off x="3924000" y="2160000"/>
            <a:ext cx="4572000" cy="1944000"/>
          </a:xfrm>
          <a:prstGeom prst="rect">
            <a:avLst/>
          </a:prstGeom>
          <a:noFill/>
          <a:ln w="0">
            <a:noFill/>
          </a:ln>
        </p:spPr>
        <p:txBody>
          <a:bodyPr lIns="0" rIns="0" tIns="0" bIns="0" anchor="t">
            <a:normAutofit fontScale="475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09" name="PlaceHolder 3"/>
          <p:cNvSpPr>
            <a:spLocks noGrp="1"/>
          </p:cNvSpPr>
          <p:nvPr>
            <p:ph type="dt" idx="19"/>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10" name="PlaceHolder 4"/>
          <p:cNvSpPr>
            <a:spLocks noGrp="1"/>
          </p:cNvSpPr>
          <p:nvPr>
            <p:ph type="ftr" idx="20"/>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11" name="PlaceHolder 5"/>
          <p:cNvSpPr>
            <a:spLocks noGrp="1"/>
          </p:cNvSpPr>
          <p:nvPr>
            <p:ph type="sldNum" idx="21"/>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A194B2DE-CD1E-4A00-9447-0C191DFE5BFF}"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
          <p:cNvSpPr/>
          <p:nvPr/>
        </p:nvSpPr>
        <p:spPr>
          <a:xfrm>
            <a:off x="8266320" y="4115520"/>
            <a:ext cx="1920240" cy="1920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13" name=""/>
          <p:cNvSpPr/>
          <p:nvPr/>
        </p:nvSpPr>
        <p:spPr>
          <a:xfrm>
            <a:off x="7717680" y="-548280"/>
            <a:ext cx="1920240" cy="1920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grpSp>
        <p:nvGrpSpPr>
          <p:cNvPr id="114" name=""/>
          <p:cNvGrpSpPr/>
          <p:nvPr/>
        </p:nvGrpSpPr>
        <p:grpSpPr>
          <a:xfrm>
            <a:off x="-147240" y="65160"/>
            <a:ext cx="915480" cy="915480"/>
            <a:chOff x="-147240" y="65160"/>
            <a:chExt cx="915480" cy="915480"/>
          </a:xfrm>
        </p:grpSpPr>
        <p:sp>
          <p:nvSpPr>
            <p:cNvPr id="115" name=""/>
            <p:cNvSpPr/>
            <p:nvPr/>
          </p:nvSpPr>
          <p:spPr>
            <a:xfrm flipV="1" rot="5395800">
              <a:off x="219240" y="796680"/>
              <a:ext cx="182880" cy="182880"/>
            </a:xfrm>
            <a:prstGeom prst="ellipse">
              <a:avLst/>
            </a:prstGeom>
            <a:blipFill rotWithShape="0">
              <a:blip r:embed="rId2"/>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6" name=""/>
            <p:cNvSpPr/>
            <p:nvPr/>
          </p:nvSpPr>
          <p:spPr>
            <a:xfrm flipV="1" rot="5395800">
              <a:off x="218880" y="430920"/>
              <a:ext cx="182880" cy="182880"/>
            </a:xfrm>
            <a:prstGeom prst="ellipse">
              <a:avLst/>
            </a:prstGeom>
            <a:blipFill rotWithShape="0">
              <a:blip r:embed="rId3"/>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7" name=""/>
            <p:cNvSpPr/>
            <p:nvPr/>
          </p:nvSpPr>
          <p:spPr>
            <a:xfrm flipV="1" rot="5395800">
              <a:off x="218520" y="65520"/>
              <a:ext cx="182880" cy="182880"/>
            </a:xfrm>
            <a:prstGeom prst="ellipse">
              <a:avLst/>
            </a:prstGeom>
            <a:blipFill rotWithShape="0">
              <a:blip r:embed="rId4"/>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8" name=""/>
            <p:cNvSpPr/>
            <p:nvPr/>
          </p:nvSpPr>
          <p:spPr>
            <a:xfrm flipV="1" rot="5395800">
              <a:off x="584280" y="64800"/>
              <a:ext cx="182880" cy="182880"/>
            </a:xfrm>
            <a:prstGeom prst="ellipse">
              <a:avLst/>
            </a:prstGeom>
            <a:blipFill rotWithShape="0">
              <a:blip r:embed="rId5"/>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9" name=""/>
            <p:cNvSpPr/>
            <p:nvPr/>
          </p:nvSpPr>
          <p:spPr>
            <a:xfrm flipV="1" rot="5395800">
              <a:off x="584280" y="430560"/>
              <a:ext cx="182880" cy="182880"/>
            </a:xfrm>
            <a:prstGeom prst="ellipse">
              <a:avLst/>
            </a:prstGeom>
            <a:blipFill rotWithShape="0">
              <a:blip r:embed="rId6"/>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0" name=""/>
            <p:cNvSpPr/>
            <p:nvPr/>
          </p:nvSpPr>
          <p:spPr>
            <a:xfrm flipV="1" rot="5395800">
              <a:off x="585000" y="796680"/>
              <a:ext cx="182880" cy="182880"/>
            </a:xfrm>
            <a:prstGeom prst="ellipse">
              <a:avLst/>
            </a:prstGeom>
            <a:blipFill rotWithShape="0">
              <a:blip r:embed="rId7"/>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1" name=""/>
            <p:cNvSpPr/>
            <p:nvPr/>
          </p:nvSpPr>
          <p:spPr>
            <a:xfrm flipV="1" rot="5395800">
              <a:off x="-146160" y="797040"/>
              <a:ext cx="182880" cy="182880"/>
            </a:xfrm>
            <a:prstGeom prst="ellipse">
              <a:avLst/>
            </a:prstGeom>
            <a:blipFill rotWithShape="0">
              <a:blip r:embed="rId8"/>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2" name=""/>
            <p:cNvSpPr/>
            <p:nvPr/>
          </p:nvSpPr>
          <p:spPr>
            <a:xfrm flipV="1" rot="5395800">
              <a:off x="-146880" y="431640"/>
              <a:ext cx="182880" cy="182880"/>
            </a:xfrm>
            <a:prstGeom prst="ellipse">
              <a:avLst/>
            </a:prstGeom>
            <a:blipFill rotWithShape="0">
              <a:blip r:embed="rId9"/>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3" name=""/>
            <p:cNvSpPr/>
            <p:nvPr/>
          </p:nvSpPr>
          <p:spPr>
            <a:xfrm flipV="1" rot="5395800">
              <a:off x="-146880" y="65520"/>
              <a:ext cx="182880" cy="182880"/>
            </a:xfrm>
            <a:prstGeom prst="ellipse">
              <a:avLst/>
            </a:prstGeom>
            <a:blipFill rotWithShape="0">
              <a:blip r:embed="rId10"/>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grpSp>
        <p:nvGrpSpPr>
          <p:cNvPr id="124" name=""/>
          <p:cNvGrpSpPr/>
          <p:nvPr/>
        </p:nvGrpSpPr>
        <p:grpSpPr>
          <a:xfrm>
            <a:off x="9545040" y="4641840"/>
            <a:ext cx="549720" cy="915480"/>
            <a:chOff x="9545040" y="4641840"/>
            <a:chExt cx="549720" cy="915480"/>
          </a:xfrm>
        </p:grpSpPr>
        <p:sp>
          <p:nvSpPr>
            <p:cNvPr id="125" name=""/>
            <p:cNvSpPr/>
            <p:nvPr/>
          </p:nvSpPr>
          <p:spPr>
            <a:xfrm flipV="1" rot="5395800">
              <a:off x="9911520" y="5373000"/>
              <a:ext cx="182880" cy="182880"/>
            </a:xfrm>
            <a:prstGeom prst="ellipse">
              <a:avLst/>
            </a:prstGeom>
            <a:blipFill rotWithShape="0">
              <a:blip r:embed="rId11"/>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6" name=""/>
            <p:cNvSpPr/>
            <p:nvPr/>
          </p:nvSpPr>
          <p:spPr>
            <a:xfrm flipV="1" rot="5395800">
              <a:off x="9911160" y="5007600"/>
              <a:ext cx="182880" cy="182880"/>
            </a:xfrm>
            <a:prstGeom prst="ellipse">
              <a:avLst/>
            </a:prstGeom>
            <a:blipFill rotWithShape="0">
              <a:blip r:embed="rId12"/>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7" name=""/>
            <p:cNvSpPr/>
            <p:nvPr/>
          </p:nvSpPr>
          <p:spPr>
            <a:xfrm flipV="1" rot="5395800">
              <a:off x="9910440" y="4641480"/>
              <a:ext cx="182880" cy="182880"/>
            </a:xfrm>
            <a:prstGeom prst="ellipse">
              <a:avLst/>
            </a:prstGeom>
            <a:blipFill rotWithShape="0">
              <a:blip r:embed="rId13"/>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8" name=""/>
            <p:cNvSpPr/>
            <p:nvPr/>
          </p:nvSpPr>
          <p:spPr>
            <a:xfrm flipV="1" rot="5395800">
              <a:off x="9545400" y="5373720"/>
              <a:ext cx="182880" cy="182880"/>
            </a:xfrm>
            <a:prstGeom prst="ellipse">
              <a:avLst/>
            </a:prstGeom>
            <a:blipFill rotWithShape="0">
              <a:blip r:embed="rId14"/>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9" name=""/>
            <p:cNvSpPr/>
            <p:nvPr/>
          </p:nvSpPr>
          <p:spPr>
            <a:xfrm flipV="1" rot="5395800">
              <a:off x="9545400" y="5007600"/>
              <a:ext cx="182880" cy="182880"/>
            </a:xfrm>
            <a:prstGeom prst="ellipse">
              <a:avLst/>
            </a:prstGeom>
            <a:blipFill rotWithShape="0">
              <a:blip r:embed="rId15"/>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30" name=""/>
            <p:cNvSpPr/>
            <p:nvPr/>
          </p:nvSpPr>
          <p:spPr>
            <a:xfrm flipV="1" rot="5395800">
              <a:off x="9545040" y="4641840"/>
              <a:ext cx="182880" cy="182880"/>
            </a:xfrm>
            <a:prstGeom prst="ellipse">
              <a:avLst/>
            </a:prstGeom>
            <a:blipFill rotWithShape="0">
              <a:blip r:embed="rId16"/>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131" name=""/>
          <p:cNvSpPr/>
          <p:nvPr/>
        </p:nvSpPr>
        <p:spPr>
          <a:xfrm>
            <a:off x="-146160" y="3109320"/>
            <a:ext cx="1920240" cy="1920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32"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33"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324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32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288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504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72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936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115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34" name="PlaceHolder 3"/>
          <p:cNvSpPr>
            <a:spLocks noGrp="1"/>
          </p:cNvSpPr>
          <p:nvPr>
            <p:ph type="dt" idx="22"/>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35" name="PlaceHolder 4"/>
          <p:cNvSpPr>
            <a:spLocks noGrp="1"/>
          </p:cNvSpPr>
          <p:nvPr>
            <p:ph type="ftr" idx="23"/>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36" name="PlaceHolder 5"/>
          <p:cNvSpPr>
            <a:spLocks noGrp="1"/>
          </p:cNvSpPr>
          <p:nvPr>
            <p:ph type="sldNum" idx="24"/>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3D095737-A089-43D7-8C1A-565634C58BB8}"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
          <p:cNvSpPr/>
          <p:nvPr/>
        </p:nvSpPr>
        <p:spPr>
          <a:xfrm rot="18876000">
            <a:off x="8646120" y="-405720"/>
            <a:ext cx="2895480" cy="289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38" name=""/>
          <p:cNvSpPr/>
          <p:nvPr/>
        </p:nvSpPr>
        <p:spPr>
          <a:xfrm rot="18876000">
            <a:off x="8666280" y="3983040"/>
            <a:ext cx="2895480" cy="289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39" name=""/>
          <p:cNvSpPr/>
          <p:nvPr/>
        </p:nvSpPr>
        <p:spPr>
          <a:xfrm rot="18964800">
            <a:off x="994320" y="5915880"/>
            <a:ext cx="2588760" cy="7315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40" name=""/>
          <p:cNvSpPr/>
          <p:nvPr/>
        </p:nvSpPr>
        <p:spPr>
          <a:xfrm rot="18964800">
            <a:off x="-1296720" y="5513760"/>
            <a:ext cx="2588760" cy="7315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41" name=""/>
          <p:cNvSpPr/>
          <p:nvPr/>
        </p:nvSpPr>
        <p:spPr>
          <a:xfrm rot="18964800">
            <a:off x="3682080" y="339480"/>
            <a:ext cx="3457800" cy="9223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42" name=""/>
          <p:cNvSpPr/>
          <p:nvPr/>
        </p:nvSpPr>
        <p:spPr>
          <a:xfrm rot="18964800">
            <a:off x="1446120" y="-758520"/>
            <a:ext cx="2588760" cy="7315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43" name=""/>
          <p:cNvSpPr/>
          <p:nvPr/>
        </p:nvSpPr>
        <p:spPr>
          <a:xfrm rot="18964800">
            <a:off x="-727200" y="3295080"/>
            <a:ext cx="2588760" cy="51300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44"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45"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46" name="PlaceHolder 3"/>
          <p:cNvSpPr>
            <a:spLocks noGrp="1"/>
          </p:cNvSpPr>
          <p:nvPr>
            <p:ph type="dt" idx="25"/>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47" name="PlaceHolder 4"/>
          <p:cNvSpPr>
            <a:spLocks noGrp="1"/>
          </p:cNvSpPr>
          <p:nvPr>
            <p:ph type="ftr" idx="26"/>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48" name="PlaceHolder 5"/>
          <p:cNvSpPr>
            <a:spLocks noGrp="1"/>
          </p:cNvSpPr>
          <p:nvPr>
            <p:ph type="sldNum" idx="27"/>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2653435E-D906-4EA6-81CC-DF28FB191981}"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4.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4.xml"/><Relationship Id="rId4"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4.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4.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4.xml"/><Relationship Id="rId3"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4.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1440000" y="1800000"/>
            <a:ext cx="7200000" cy="1440000"/>
          </a:xfrm>
          <a:prstGeom prst="rect">
            <a:avLst/>
          </a:prstGeom>
          <a:noFill/>
          <a:ln w="0">
            <a:noFill/>
          </a:ln>
        </p:spPr>
        <p:txBody>
          <a:bodyPr lIns="0" rIns="0" tIns="0" bIns="0" anchor="ctr">
            <a:normAutofit fontScale="92500" lnSpcReduction="9999"/>
          </a:bodyPr>
          <a:p>
            <a:pPr indent="0" algn="ctr">
              <a:buNone/>
            </a:pPr>
            <a:r>
              <a:rPr b="1" lang="en-US" sz="4200" strike="noStrike" u="none">
                <a:solidFill>
                  <a:srgbClr val="062814"/>
                </a:solidFill>
                <a:uFillTx/>
                <a:latin typeface="Noto Sans"/>
              </a:rPr>
              <a:t>Performance Optimization </a:t>
            </a:r>
            <a:br>
              <a:rPr sz="4200"/>
            </a:br>
            <a:r>
              <a:rPr b="1" lang="en-US" sz="4200" strike="noStrike" u="none">
                <a:solidFill>
                  <a:srgbClr val="062814"/>
                </a:solidFill>
                <a:uFillTx/>
                <a:latin typeface="Noto Sans"/>
              </a:rPr>
              <a:t>in Unity</a:t>
            </a:r>
            <a:endParaRPr b="1" lang="es-ES" sz="4200" strike="noStrike" u="none">
              <a:solidFill>
                <a:srgbClr val="062814"/>
              </a:solidFill>
              <a:uFillTx/>
              <a:latin typeface="Noto Sans"/>
            </a:endParaRPr>
          </a:p>
        </p:txBody>
      </p:sp>
      <p:sp>
        <p:nvSpPr>
          <p:cNvPr id="156" name="PlaceHolder 2"/>
          <p:cNvSpPr>
            <a:spLocks noGrp="1"/>
          </p:cNvSpPr>
          <p:nvPr>
            <p:ph type="subTitle"/>
          </p:nvPr>
        </p:nvSpPr>
        <p:spPr>
          <a:xfrm>
            <a:off x="1440000" y="3636000"/>
            <a:ext cx="7020000" cy="360000"/>
          </a:xfrm>
          <a:prstGeom prst="rect">
            <a:avLst/>
          </a:prstGeom>
          <a:noFill/>
          <a:ln w="0">
            <a:noFill/>
          </a:ln>
        </p:spPr>
        <p:txBody>
          <a:bodyPr lIns="0" rIns="0" tIns="0" bIns="0" anchor="ctr">
            <a:normAutofit fontScale="77500" lnSpcReduction="19999"/>
          </a:bodyPr>
          <a:p>
            <a:pPr indent="0" algn="ctr">
              <a:buNone/>
            </a:pPr>
            <a:r>
              <a:rPr b="0" lang="en-US" sz="3200" strike="noStrike" u="none">
                <a:solidFill>
                  <a:srgbClr val="000000"/>
                </a:solidFill>
                <a:uFillTx/>
                <a:latin typeface="Noto Sans"/>
              </a:rPr>
              <a:t>Eduardo Jiménez Chapresto – Siesta </a:t>
            </a:r>
            <a:r>
              <a:rPr b="0" lang="en-US" sz="3200" strike="noStrike" u="none">
                <a:solidFill>
                  <a:srgbClr val="062814"/>
                </a:solidFill>
                <a:uFillTx/>
                <a:latin typeface="Noto Sans"/>
              </a:rPr>
              <a:t>Games</a:t>
            </a:r>
            <a:endParaRPr b="0" lang="es-ES" sz="3200" strike="noStrike" u="none">
              <a:solidFill>
                <a:srgbClr val="000000"/>
              </a:solidFill>
              <a:uFillTx/>
              <a:latin typeface="Noto Sans"/>
            </a:endParaRPr>
          </a:p>
        </p:txBody>
      </p:sp>
      <p:sp>
        <p:nvSpPr>
          <p:cNvPr id="4" name="PlaceHolder 3"/>
          <p:cNvSpPr>
            <a:spLocks noGrp="1"/>
          </p:cNvSpPr>
          <p:nvPr>
            <p:ph type="dt" idx="1"/>
          </p:nvPr>
        </p:nvSpPr>
        <p:spPr/>
        <p:txBody>
          <a:bodyPr/>
          <a:p>
            <a:fld id="{86E60545-92FE-4C1E-823C-57E331EF8DC9}" type="datetime1">
              <a:rPr lang="es-ES"/>
              <a:t>04/03/25</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Index</a:t>
            </a:r>
            <a:endParaRPr b="1" lang="es-ES" sz="4400" strike="noStrike" u="none">
              <a:solidFill>
                <a:srgbClr val="062814"/>
              </a:solidFill>
              <a:uFillTx/>
              <a:latin typeface="Noto Sans"/>
            </a:endParaRPr>
          </a:p>
        </p:txBody>
      </p:sp>
      <p:sp>
        <p:nvSpPr>
          <p:cNvPr id="158"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Introduction</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CPU Profiling</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Algorithmic Complexity &amp; Data Structures for Optimization</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Index</a:t>
            </a:r>
            <a:endParaRPr b="1" lang="es-ES" sz="4400" strike="noStrike" u="none">
              <a:solidFill>
                <a:srgbClr val="062814"/>
              </a:solidFill>
              <a:uFillTx/>
              <a:latin typeface="Noto Sans"/>
            </a:endParaRPr>
          </a:p>
        </p:txBody>
      </p:sp>
      <p:sp>
        <p:nvSpPr>
          <p:cNvPr id="160"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General Optimization Tips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Memory Profiling &amp; Optimization</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GPU Profiling &amp; Optimization</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Questions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Introduction</a:t>
            </a:r>
            <a:endParaRPr b="1" lang="es-ES" sz="4400" strike="noStrike" u="none">
              <a:solidFill>
                <a:srgbClr val="062814"/>
              </a:solidFill>
              <a:uFillTx/>
              <a:latin typeface="Noto Sans"/>
            </a:endParaRPr>
          </a:p>
        </p:txBody>
      </p:sp>
      <p:sp>
        <p:nvSpPr>
          <p:cNvPr id="162" name="PlaceHolder 2"/>
          <p:cNvSpPr>
            <a:spLocks noGrp="1"/>
          </p:cNvSpPr>
          <p:nvPr>
            <p:ph/>
          </p:nvPr>
        </p:nvSpPr>
        <p:spPr>
          <a:xfrm>
            <a:off x="1260000" y="1800000"/>
            <a:ext cx="82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Purpose of this seminar</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n-US" sz="2800" strike="noStrike" u="none">
                <a:solidFill>
                  <a:srgbClr val="062814"/>
                </a:solidFill>
                <a:uFillTx/>
                <a:latin typeface="Noto Sans"/>
              </a:rPr>
              <a:t>Overview of Profiling Techniques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n-US" sz="2800" strike="noStrike" u="none">
                <a:solidFill>
                  <a:srgbClr val="062814"/>
                </a:solidFill>
                <a:uFillTx/>
                <a:latin typeface="Noto Sans"/>
              </a:rPr>
              <a:t>Tips on Optimization</a:t>
            </a:r>
            <a:endParaRPr b="0" lang="es-ES" sz="28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Optimization is not straightforward</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n-US" sz="2800" strike="noStrike" u="none">
                <a:solidFill>
                  <a:srgbClr val="062814"/>
                </a:solidFill>
                <a:uFillTx/>
                <a:latin typeface="Noto Sans"/>
              </a:rPr>
              <a:t>Many paths can be taken and should be explored for a given problem</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Introduction</a:t>
            </a:r>
            <a:endParaRPr b="1" lang="es-ES" sz="4400" strike="noStrike" u="none">
              <a:solidFill>
                <a:srgbClr val="062814"/>
              </a:solidFill>
              <a:uFillTx/>
              <a:latin typeface="Noto Sans"/>
            </a:endParaRPr>
          </a:p>
        </p:txBody>
      </p:sp>
      <p:sp>
        <p:nvSpPr>
          <p:cNvPr id="164" name="PlaceHolder 2"/>
          <p:cNvSpPr>
            <a:spLocks noGrp="1"/>
          </p:cNvSpPr>
          <p:nvPr>
            <p:ph/>
          </p:nvPr>
        </p:nvSpPr>
        <p:spPr>
          <a:xfrm>
            <a:off x="360000" y="1800000"/>
            <a:ext cx="91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We’ll use a simple boids system project as a conductor for the seminar</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We start with a basic brute force implementation and we’ll develop it further to greatly increase the number of boids on screen</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Boids System</a:t>
            </a:r>
            <a:endParaRPr b="1" lang="es-ES" sz="4400" strike="noStrike" u="none">
              <a:solidFill>
                <a:srgbClr val="062814"/>
              </a:solidFill>
              <a:uFillTx/>
              <a:latin typeface="Noto Sans"/>
            </a:endParaRPr>
          </a:p>
        </p:txBody>
      </p:sp>
      <p:sp>
        <p:nvSpPr>
          <p:cNvPr id="166"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This is a basic system represents a flock of birds or a bank of fish</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The behaviour of the different entities in the system is governed by simple rules that generate emergent behaviours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Boids System</a:t>
            </a:r>
            <a:endParaRPr b="1" lang="es-ES" sz="4400" strike="noStrike" u="none">
              <a:solidFill>
                <a:srgbClr val="062814"/>
              </a:solidFill>
              <a:uFillTx/>
              <a:latin typeface="Noto Sans"/>
            </a:endParaRPr>
          </a:p>
        </p:txBody>
      </p:sp>
      <p:sp>
        <p:nvSpPr>
          <p:cNvPr id="168" name="PlaceHolder 2"/>
          <p:cNvSpPr>
            <a:spLocks noGrp="1"/>
          </p:cNvSpPr>
          <p:nvPr>
            <p:ph/>
          </p:nvPr>
        </p:nvSpPr>
        <p:spPr>
          <a:xfrm>
            <a:off x="360000" y="1800000"/>
            <a:ext cx="9180000" cy="3288240"/>
          </a:xfrm>
          <a:prstGeom prst="rect">
            <a:avLst/>
          </a:prstGeom>
          <a:noFill/>
          <a:ln w="0">
            <a:noFill/>
          </a:ln>
        </p:spPr>
        <p:txBody>
          <a:bodyPr lIns="0" rIns="0" tIns="0" bIns="0" anchor="t">
            <a:normAutofit fontScale="85000" lnSpcReduction="19999"/>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Separation: the entities try to be at least at certain distance from each other</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Cohesion: the entities try to stay not too far from each other</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Alignment: the entities try to look in the same direction as their neighbours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Border Repulsion: To avoid them going out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n-US" sz="4400" strike="noStrike" u="none">
                <a:solidFill>
                  <a:srgbClr val="062814"/>
                </a:solidFill>
                <a:uFillTx/>
                <a:latin typeface="Noto Sans"/>
              </a:rPr>
              <a:t>Brute Force Implementation</a:t>
            </a:r>
            <a:endParaRPr b="1" lang="es-ES" sz="4400" strike="noStrike" u="none">
              <a:solidFill>
                <a:srgbClr val="062814"/>
              </a:solidFill>
              <a:uFillTx/>
              <a:latin typeface="Noto Sans"/>
            </a:endParaRPr>
          </a:p>
        </p:txBody>
      </p:sp>
      <p:sp>
        <p:nvSpPr>
          <p:cNvPr id="170" name="PlaceHolder 2"/>
          <p:cNvSpPr>
            <a:spLocks noGrp="1"/>
          </p:cNvSpPr>
          <p:nvPr>
            <p:ph/>
          </p:nvPr>
        </p:nvSpPr>
        <p:spPr>
          <a:xfrm>
            <a:off x="1260000" y="1800000"/>
            <a:ext cx="82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For 3 of the 4 rules we need to check the nearby entities in the system</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n-US" sz="3200" strike="noStrike" u="none">
                <a:solidFill>
                  <a:srgbClr val="062814"/>
                </a:solidFill>
                <a:uFillTx/>
                <a:latin typeface="Noto Sans"/>
              </a:rPr>
              <a:t>A simple brute force implementation iterates over all of them processing the near ones and discarding the ones that are too far</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Brute Force Implementation</a:t>
            </a:r>
            <a:endParaRPr b="1" lang="es-ES" sz="4400" strike="noStrike" u="none">
              <a:solidFill>
                <a:srgbClr val="062814"/>
              </a:solidFill>
              <a:uFillTx/>
              <a:latin typeface="Noto Sans"/>
            </a:endParaRPr>
          </a:p>
        </p:txBody>
      </p:sp>
      <p:sp>
        <p:nvSpPr>
          <p:cNvPr id="172"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73" name="" descr=""/>
          <p:cNvPicPr/>
          <p:nvPr/>
        </p:nvPicPr>
        <p:blipFill>
          <a:blip r:embed="rId1"/>
          <a:stretch/>
        </p:blipFill>
        <p:spPr>
          <a:xfrm>
            <a:off x="994680" y="1546920"/>
            <a:ext cx="8134920" cy="36291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CPU Profiling</a:t>
            </a:r>
            <a:endParaRPr b="1" lang="es-ES" sz="4400" strike="noStrike" u="none">
              <a:solidFill>
                <a:srgbClr val="062814"/>
              </a:solidFill>
              <a:uFillTx/>
              <a:latin typeface="Noto Sans"/>
            </a:endParaRPr>
          </a:p>
        </p:txBody>
      </p:sp>
      <p:sp>
        <p:nvSpPr>
          <p:cNvPr id="175"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We’ll use the Unity profiler to examine where the problem is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profiler has different parts and modes (in the CPU profiler)</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1260000" y="18000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CPU Profiling</a:t>
            </a:r>
            <a:endParaRPr b="1" lang="es-ES" sz="4400" strike="noStrike" u="none">
              <a:solidFill>
                <a:srgbClr val="062814"/>
              </a:solidFill>
              <a:uFillTx/>
              <a:latin typeface="Noto Sans"/>
            </a:endParaRPr>
          </a:p>
        </p:txBody>
      </p:sp>
      <p:sp>
        <p:nvSpPr>
          <p:cNvPr id="177"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78" name="" descr=""/>
          <p:cNvPicPr/>
          <p:nvPr/>
        </p:nvPicPr>
        <p:blipFill>
          <a:blip r:embed="rId1"/>
          <a:stretch/>
        </p:blipFill>
        <p:spPr>
          <a:xfrm>
            <a:off x="961200" y="1080000"/>
            <a:ext cx="8038800" cy="45212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CPU Profiling</a:t>
            </a:r>
            <a:endParaRPr b="1" lang="es-ES" sz="4400" strike="noStrike" u="none">
              <a:solidFill>
                <a:srgbClr val="062814"/>
              </a:solidFill>
              <a:uFillTx/>
              <a:latin typeface="Noto Sans"/>
            </a:endParaRPr>
          </a:p>
        </p:txBody>
      </p:sp>
      <p:sp>
        <p:nvSpPr>
          <p:cNvPr id="180"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Profiler.BeginSample/EndSample methods are particularly useful</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It’s important to learn to use them</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can use deep profiling alternatively, but it has its own costs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Algorithmic Complexity</a:t>
            </a:r>
            <a:endParaRPr b="1" lang="es-ES" sz="4400" strike="noStrike" u="none">
              <a:solidFill>
                <a:srgbClr val="062814"/>
              </a:solidFill>
              <a:uFillTx/>
              <a:latin typeface="Noto Sans"/>
            </a:endParaRPr>
          </a:p>
        </p:txBody>
      </p:sp>
      <p:sp>
        <p:nvSpPr>
          <p:cNvPr id="182"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first thing to consider when optimizing is algorithmic complexity</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If we can change an algorithm from O(N²) to O(NlogN) we may gain a lot… or not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Algorithmic Complexity</a:t>
            </a:r>
            <a:endParaRPr b="1" lang="es-ES" sz="4400" strike="noStrike" u="none">
              <a:solidFill>
                <a:srgbClr val="062814"/>
              </a:solidFill>
              <a:uFillTx/>
              <a:latin typeface="Noto Sans"/>
            </a:endParaRPr>
          </a:p>
        </p:txBody>
      </p:sp>
      <p:sp>
        <p:nvSpPr>
          <p:cNvPr id="184"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In our case we can easily change the average case from O(N²) to something more akin to O(NlogN) while the worst case is still O(N²) </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To do so we need to add a data structure to spatially divide the boids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Algorithmic Complexity</a:t>
            </a:r>
            <a:endParaRPr b="1" lang="es-ES" sz="4400" strike="noStrike" u="none">
              <a:solidFill>
                <a:srgbClr val="062814"/>
              </a:solidFill>
              <a:uFillTx/>
              <a:latin typeface="Noto Sans"/>
            </a:endParaRPr>
          </a:p>
        </p:txBody>
      </p:sp>
      <p:sp>
        <p:nvSpPr>
          <p:cNvPr id="186"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can also optimize by re-using the results from previous queries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can do only 1 query for the biggest circle and then use those results. It may or may not be faster depending on the situation</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Algorithmic Complexity</a:t>
            </a:r>
            <a:endParaRPr b="1" lang="es-ES" sz="4400" strike="noStrike" u="none">
              <a:solidFill>
                <a:srgbClr val="062814"/>
              </a:solidFill>
              <a:uFillTx/>
              <a:latin typeface="Noto Sans"/>
            </a:endParaRPr>
          </a:p>
        </p:txBody>
      </p:sp>
      <p:sp>
        <p:nvSpPr>
          <p:cNvPr id="188"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89" name="" descr=""/>
          <p:cNvPicPr/>
          <p:nvPr/>
        </p:nvPicPr>
        <p:blipFill>
          <a:blip r:embed="rId1"/>
          <a:stretch/>
        </p:blipFill>
        <p:spPr>
          <a:xfrm>
            <a:off x="1440000" y="1620000"/>
            <a:ext cx="7515720" cy="35528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Algorithmic Complexity</a:t>
            </a:r>
            <a:endParaRPr b="1" lang="es-ES" sz="4400" strike="noStrike" u="none">
              <a:solidFill>
                <a:srgbClr val="062814"/>
              </a:solidFill>
              <a:uFillTx/>
              <a:latin typeface="Noto Sans"/>
            </a:endParaRPr>
          </a:p>
        </p:txBody>
      </p:sp>
      <p:sp>
        <p:nvSpPr>
          <p:cNvPr id="191"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92" name="" descr=""/>
          <p:cNvPicPr/>
          <p:nvPr/>
        </p:nvPicPr>
        <p:blipFill>
          <a:blip r:embed="rId1"/>
          <a:stretch/>
        </p:blipFill>
        <p:spPr>
          <a:xfrm>
            <a:off x="2007720" y="1440000"/>
            <a:ext cx="6092280" cy="423000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Algorithmic Complexity</a:t>
            </a:r>
            <a:endParaRPr b="1" lang="es-ES" sz="4400" strike="noStrike" u="none">
              <a:solidFill>
                <a:srgbClr val="062814"/>
              </a:solidFill>
              <a:uFillTx/>
              <a:latin typeface="Noto Sans"/>
            </a:endParaRPr>
          </a:p>
        </p:txBody>
      </p:sp>
      <p:sp>
        <p:nvSpPr>
          <p:cNvPr id="194"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195" name="" descr=""/>
          <p:cNvPicPr/>
          <p:nvPr/>
        </p:nvPicPr>
        <p:blipFill>
          <a:blip r:embed="rId1"/>
          <a:stretch/>
        </p:blipFill>
        <p:spPr>
          <a:xfrm>
            <a:off x="2160000" y="1391040"/>
            <a:ext cx="6300000" cy="4282920"/>
          </a:xfrm>
          <a:prstGeom prst="rect">
            <a:avLst/>
          </a:prstGeom>
          <a:noFill/>
          <a:ln w="0">
            <a:noFill/>
          </a:ln>
        </p:spPr>
      </p:pic>
      <p:sp>
        <p:nvSpPr>
          <p:cNvPr id="196" name=""/>
          <p:cNvSpPr txBox="1"/>
          <p:nvPr/>
        </p:nvSpPr>
        <p:spPr>
          <a:xfrm>
            <a:off x="9360000" y="1800000"/>
            <a:ext cx="240120" cy="401400"/>
          </a:xfrm>
          <a:prstGeom prst="rect">
            <a:avLst/>
          </a:prstGeom>
          <a:noFill/>
          <a:ln w="0">
            <a:noFill/>
          </a:ln>
        </p:spPr>
        <p:txBody>
          <a:bodyPr wrap="none" lIns="90000" rIns="90000" tIns="45000" bIns="45000" anchor="t">
            <a:noAutofit/>
          </a:bodyPr>
          <a:p>
            <a:r>
              <a:rPr b="0" lang="es-ES" sz="1800" strike="noStrike" u="none">
                <a:solidFill>
                  <a:srgbClr val="000000"/>
                </a:solidFill>
                <a:uFillTx/>
                <a:latin typeface="Noto Sans"/>
              </a:rPr>
              <a:t> </a:t>
            </a:r>
            <a:endParaRPr b="0" lang="es-ES" sz="18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Algorithmic Complexity</a:t>
            </a:r>
            <a:endParaRPr b="1" lang="es-ES" sz="4400" strike="noStrike" u="none">
              <a:solidFill>
                <a:srgbClr val="062814"/>
              </a:solidFill>
              <a:uFillTx/>
              <a:latin typeface="Noto Sans"/>
            </a:endParaRPr>
          </a:p>
        </p:txBody>
      </p:sp>
      <p:sp>
        <p:nvSpPr>
          <p:cNvPr id="198"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performance cost per boid is a bit less than half of the previous one </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15-17ms vs 7.5-8ms</a:t>
            </a:r>
            <a:endParaRPr b="0" lang="es-ES" sz="28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We’ve also removed almost all allocations from each tick</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Data Structures for Optimization</a:t>
            </a:r>
            <a:endParaRPr b="1" lang="es-ES" sz="4400" strike="noStrike" u="none">
              <a:solidFill>
                <a:srgbClr val="062814"/>
              </a:solidFill>
              <a:uFillTx/>
              <a:latin typeface="Noto Sans"/>
            </a:endParaRPr>
          </a:p>
        </p:txBody>
      </p:sp>
      <p:sp>
        <p:nvSpPr>
          <p:cNvPr id="200"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next step would be to use data structures to optimize the acquisition of the nearby boids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Spatial division data structures are very common in video-games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85000" lnSpcReduction="9999"/>
          </a:bodyPr>
          <a:p>
            <a:pPr indent="0" algn="ctr">
              <a:buNone/>
            </a:pPr>
            <a:r>
              <a:rPr b="1" lang="es-ES" sz="4400" strike="noStrike" u="none">
                <a:solidFill>
                  <a:srgbClr val="062814"/>
                </a:solidFill>
                <a:uFillTx/>
                <a:latin typeface="Noto Sans"/>
              </a:rPr>
              <a:t>Data Structures for Optimization</a:t>
            </a:r>
            <a:endParaRPr b="1" lang="es-ES" sz="4400" strike="noStrike" u="none">
              <a:solidFill>
                <a:srgbClr val="062814"/>
              </a:solidFill>
              <a:uFillTx/>
              <a:latin typeface="Noto Sans"/>
            </a:endParaRPr>
          </a:p>
        </p:txBody>
      </p:sp>
      <p:sp>
        <p:nvSpPr>
          <p:cNvPr id="202" name="PlaceHolder 2"/>
          <p:cNvSpPr>
            <a:spLocks noGrp="1"/>
          </p:cNvSpPr>
          <p:nvPr>
            <p:ph/>
          </p:nvPr>
        </p:nvSpPr>
        <p:spPr>
          <a:xfrm>
            <a:off x="1260000" y="1620000"/>
            <a:ext cx="8280000" cy="3780000"/>
          </a:xfrm>
          <a:prstGeom prst="rect">
            <a:avLst/>
          </a:prstGeom>
          <a:noFill/>
          <a:ln w="0">
            <a:noFill/>
          </a:ln>
        </p:spPr>
        <p:txBody>
          <a:bodyPr lIns="0" rIns="0" tIns="0" bIns="0" anchor="t">
            <a:normAutofit fontScale="850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could comment a few very common and well used and documented data structures for spatial division:</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Quad-trees/Oct-trees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KD trees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Grid</a:t>
            </a:r>
            <a:endParaRPr b="0" lang="es-ES" sz="28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could also comment some of the ones used in old videogames mostly to reduce the amount of polys rendered</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Quad-tree/Oct-tree</a:t>
            </a:r>
            <a:endParaRPr b="1" lang="es-ES" sz="4400" strike="noStrike" u="none">
              <a:solidFill>
                <a:srgbClr val="062814"/>
              </a:solidFill>
              <a:uFillTx/>
              <a:latin typeface="Noto Sans"/>
            </a:endParaRPr>
          </a:p>
        </p:txBody>
      </p:sp>
      <p:pic>
        <p:nvPicPr>
          <p:cNvPr id="204" name="" descr=""/>
          <p:cNvPicPr/>
          <p:nvPr/>
        </p:nvPicPr>
        <p:blipFill>
          <a:blip r:embed="rId1"/>
          <a:stretch/>
        </p:blipFill>
        <p:spPr>
          <a:xfrm>
            <a:off x="1980000" y="1586880"/>
            <a:ext cx="6480000" cy="363312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KD Tree</a:t>
            </a:r>
            <a:endParaRPr b="1" lang="es-ES" sz="4400" strike="noStrike" u="none">
              <a:solidFill>
                <a:srgbClr val="062814"/>
              </a:solidFill>
              <a:uFillTx/>
              <a:latin typeface="Noto Sans"/>
            </a:endParaRPr>
          </a:p>
        </p:txBody>
      </p:sp>
      <p:pic>
        <p:nvPicPr>
          <p:cNvPr id="206" name="" descr=""/>
          <p:cNvPicPr/>
          <p:nvPr/>
        </p:nvPicPr>
        <p:blipFill>
          <a:blip r:embed="rId1"/>
          <a:stretch/>
        </p:blipFill>
        <p:spPr>
          <a:xfrm>
            <a:off x="2484000" y="1558440"/>
            <a:ext cx="5676480" cy="352404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Grid</a:t>
            </a:r>
            <a:endParaRPr b="1" lang="es-ES" sz="4400" strike="noStrike" u="none">
              <a:solidFill>
                <a:srgbClr val="062814"/>
              </a:solidFill>
              <a:uFillTx/>
              <a:latin typeface="Noto Sans"/>
            </a:endParaRPr>
          </a:p>
        </p:txBody>
      </p:sp>
      <p:pic>
        <p:nvPicPr>
          <p:cNvPr id="208" name="" descr=""/>
          <p:cNvPicPr/>
          <p:nvPr/>
        </p:nvPicPr>
        <p:blipFill>
          <a:blip r:embed="rId1"/>
          <a:stretch/>
        </p:blipFill>
        <p:spPr>
          <a:xfrm>
            <a:off x="3078720" y="1296000"/>
            <a:ext cx="4373280" cy="422964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85000" lnSpcReduction="9999"/>
          </a:bodyPr>
          <a:p>
            <a:pPr indent="0" algn="ctr">
              <a:buNone/>
            </a:pPr>
            <a:r>
              <a:rPr b="1" lang="es-ES" sz="4400" strike="noStrike" u="none">
                <a:solidFill>
                  <a:srgbClr val="062814"/>
                </a:solidFill>
                <a:uFillTx/>
                <a:latin typeface="Noto Sans"/>
              </a:rPr>
              <a:t>Data Structures for Optimization</a:t>
            </a:r>
            <a:endParaRPr b="1" lang="es-ES" sz="4400" strike="noStrike" u="none">
              <a:solidFill>
                <a:srgbClr val="062814"/>
              </a:solidFill>
              <a:uFillTx/>
              <a:latin typeface="Noto Sans"/>
            </a:endParaRPr>
          </a:p>
        </p:txBody>
      </p:sp>
      <p:sp>
        <p:nvSpPr>
          <p:cNvPr id="210"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We’ll use the grid data structure that we may need to regenerate every tick</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We’ll use lazy evaluation to regenerate it so that if we don’t have boids that use it we don’t spend time regenerating it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Data Structures for Optimization</a:t>
            </a:r>
            <a:endParaRPr b="1" lang="es-ES" sz="4400" strike="noStrike" u="none">
              <a:solidFill>
                <a:srgbClr val="062814"/>
              </a:solidFill>
              <a:uFillTx/>
              <a:latin typeface="Noto Sans"/>
            </a:endParaRPr>
          </a:p>
        </p:txBody>
      </p:sp>
      <p:sp>
        <p:nvSpPr>
          <p:cNvPr id="212"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13" name="" descr=""/>
          <p:cNvPicPr/>
          <p:nvPr/>
        </p:nvPicPr>
        <p:blipFill>
          <a:blip r:embed="rId1"/>
          <a:stretch/>
        </p:blipFill>
        <p:spPr>
          <a:xfrm>
            <a:off x="1620000" y="1345680"/>
            <a:ext cx="4655880" cy="423432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Data Structures for Optimization</a:t>
            </a:r>
            <a:endParaRPr b="1" lang="es-ES" sz="4400" strike="noStrike" u="none">
              <a:solidFill>
                <a:srgbClr val="062814"/>
              </a:solidFill>
              <a:uFillTx/>
              <a:latin typeface="Noto Sans"/>
            </a:endParaRPr>
          </a:p>
        </p:txBody>
      </p:sp>
      <p:sp>
        <p:nvSpPr>
          <p:cNvPr id="215"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16" name="" descr=""/>
          <p:cNvPicPr/>
          <p:nvPr/>
        </p:nvPicPr>
        <p:blipFill>
          <a:blip r:embed="rId1"/>
          <a:stretch/>
        </p:blipFill>
        <p:spPr>
          <a:xfrm>
            <a:off x="108000" y="1800000"/>
            <a:ext cx="4790520" cy="3240000"/>
          </a:xfrm>
          <a:prstGeom prst="rect">
            <a:avLst/>
          </a:prstGeom>
          <a:noFill/>
          <a:ln w="0">
            <a:noFill/>
          </a:ln>
        </p:spPr>
      </p:pic>
      <p:pic>
        <p:nvPicPr>
          <p:cNvPr id="217" name="" descr=""/>
          <p:cNvPicPr/>
          <p:nvPr/>
        </p:nvPicPr>
        <p:blipFill>
          <a:blip r:embed="rId2"/>
          <a:stretch/>
        </p:blipFill>
        <p:spPr>
          <a:xfrm>
            <a:off x="5220000" y="1800000"/>
            <a:ext cx="4790520" cy="324000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Data Structures for Optimization</a:t>
            </a:r>
            <a:endParaRPr b="1" lang="es-ES" sz="4400" strike="noStrike" u="none">
              <a:solidFill>
                <a:srgbClr val="062814"/>
              </a:solidFill>
              <a:uFillTx/>
              <a:latin typeface="Noto Sans"/>
            </a:endParaRPr>
          </a:p>
        </p:txBody>
      </p:sp>
      <p:sp>
        <p:nvSpPr>
          <p:cNvPr id="219" name="PlaceHolder 2"/>
          <p:cNvSpPr>
            <a:spLocks noGrp="1"/>
          </p:cNvSpPr>
          <p:nvPr>
            <p:ph/>
          </p:nvPr>
        </p:nvSpPr>
        <p:spPr>
          <a:xfrm>
            <a:off x="1260000" y="1800000"/>
            <a:ext cx="8280000" cy="342000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result is a great improvement</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We have tried with and without re-using the nearby boids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Re-using the nearby boids seems a bit more performant</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Still the main issue is that this system varies a lot between whether boids are clumped together or not</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Minor Improvements</a:t>
            </a:r>
            <a:endParaRPr b="1" lang="es-ES" sz="4400" strike="noStrike" u="none">
              <a:solidFill>
                <a:srgbClr val="062814"/>
              </a:solidFill>
              <a:uFillTx/>
              <a:latin typeface="Noto Sans"/>
            </a:endParaRPr>
          </a:p>
        </p:txBody>
      </p:sp>
      <p:sp>
        <p:nvSpPr>
          <p:cNvPr id="221"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Before going on we’re going to stop, reflect and try to find places to optimize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For that we may need to look at the code and maybe add logs or debug info to help localize where we can improve</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Minor Improvements</a:t>
            </a:r>
            <a:endParaRPr b="1" lang="es-ES" sz="4400" strike="noStrike" u="none">
              <a:solidFill>
                <a:srgbClr val="062814"/>
              </a:solidFill>
              <a:uFillTx/>
              <a:latin typeface="Noto Sans"/>
            </a:endParaRPr>
          </a:p>
        </p:txBody>
      </p:sp>
      <p:sp>
        <p:nvSpPr>
          <p:cNvPr id="223" name="PlaceHolder 2"/>
          <p:cNvSpPr>
            <a:spLocks noGrp="1"/>
          </p:cNvSpPr>
          <p:nvPr>
            <p:ph/>
          </p:nvPr>
        </p:nvSpPr>
        <p:spPr>
          <a:xfrm>
            <a:off x="1260000" y="1800000"/>
            <a:ext cx="8280000" cy="360000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first thing to notice is that we’re calculating the distance twice: in the grid and later to discriminate the boids to affect in each update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If we keep that info we can save the calcs. Doing so improves significantly framerate </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We can reach 500 boids at a good framerate</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More Minor Improvements</a:t>
            </a:r>
            <a:endParaRPr b="1" lang="es-ES" sz="4400" strike="noStrike" u="none">
              <a:solidFill>
                <a:srgbClr val="062814"/>
              </a:solidFill>
              <a:uFillTx/>
              <a:latin typeface="Noto Sans"/>
            </a:endParaRPr>
          </a:p>
        </p:txBody>
      </p:sp>
      <p:sp>
        <p:nvSpPr>
          <p:cNvPr id="225" name="PlaceHolder 2"/>
          <p:cNvSpPr>
            <a:spLocks noGrp="1"/>
          </p:cNvSpPr>
          <p:nvPr>
            <p:ph/>
          </p:nvPr>
        </p:nvSpPr>
        <p:spPr>
          <a:xfrm>
            <a:off x="360000" y="1800000"/>
            <a:ext cx="9180000" cy="32882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After adding information regarding nearby boids it’s obvious that the framerate depends on the average nearby boids. </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Since only the nearest boids are really affecting the algorithm we could improve the framerate considerably reducing this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This means we’ll lose a bit of precision though </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Only Find Nearest Boids</a:t>
            </a:r>
            <a:endParaRPr b="1" lang="es-ES" sz="4400" strike="noStrike" u="none">
              <a:solidFill>
                <a:srgbClr val="062814"/>
              </a:solidFill>
              <a:uFillTx/>
              <a:latin typeface="Noto Sans"/>
            </a:endParaRPr>
          </a:p>
        </p:txBody>
      </p:sp>
      <p:sp>
        <p:nvSpPr>
          <p:cNvPr id="227" name="PlaceHolder 2"/>
          <p:cNvSpPr>
            <a:spLocks noGrp="1"/>
          </p:cNvSpPr>
          <p:nvPr>
            <p:ph/>
          </p:nvPr>
        </p:nvSpPr>
        <p:spPr>
          <a:xfrm>
            <a:off x="360000" y="1800000"/>
            <a:ext cx="91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can limit the results obtained from the ‘FindBoidsInRadius’ to a certain limit, to avoid getting too many</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This allows us the possibility of early quitting</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On the other hand, we need to make sure we only get the nearest ones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Only Find Nearest Boids</a:t>
            </a:r>
            <a:endParaRPr b="1" lang="es-ES" sz="4400" strike="noStrike" u="none">
              <a:solidFill>
                <a:srgbClr val="062814"/>
              </a:solidFill>
              <a:uFillTx/>
              <a:latin typeface="Noto Sans"/>
            </a:endParaRPr>
          </a:p>
        </p:txBody>
      </p:sp>
      <p:sp>
        <p:nvSpPr>
          <p:cNvPr id="229"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30" name="" descr=""/>
          <p:cNvPicPr/>
          <p:nvPr/>
        </p:nvPicPr>
        <p:blipFill>
          <a:blip r:embed="rId1"/>
          <a:stretch/>
        </p:blipFill>
        <p:spPr>
          <a:xfrm>
            <a:off x="1620000" y="1414440"/>
            <a:ext cx="7496280" cy="4237200"/>
          </a:xfrm>
          <a:prstGeom prst="rect">
            <a:avLst/>
          </a:prstGeom>
          <a:noFill/>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Only Find Nearest Boids</a:t>
            </a:r>
            <a:endParaRPr b="1" lang="es-ES" sz="4400" strike="noStrike" u="none">
              <a:solidFill>
                <a:srgbClr val="062814"/>
              </a:solidFill>
              <a:uFillTx/>
              <a:latin typeface="Noto Sans"/>
            </a:endParaRPr>
          </a:p>
        </p:txBody>
      </p:sp>
      <p:sp>
        <p:nvSpPr>
          <p:cNvPr id="232"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33" name="" descr=""/>
          <p:cNvPicPr/>
          <p:nvPr/>
        </p:nvPicPr>
        <p:blipFill>
          <a:blip r:embed="rId1"/>
          <a:stretch/>
        </p:blipFill>
        <p:spPr>
          <a:xfrm>
            <a:off x="1445400" y="1440000"/>
            <a:ext cx="6294600" cy="4237200"/>
          </a:xfrm>
          <a:prstGeom prst="rect">
            <a:avLst/>
          </a:prstGeom>
          <a:noFill/>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Only Find Nearest Boids</a:t>
            </a:r>
            <a:endParaRPr b="1" lang="es-ES" sz="4400" strike="noStrike" u="none">
              <a:solidFill>
                <a:srgbClr val="062814"/>
              </a:solidFill>
              <a:uFillTx/>
              <a:latin typeface="Noto Sans"/>
            </a:endParaRPr>
          </a:p>
        </p:txBody>
      </p:sp>
      <p:sp>
        <p:nvSpPr>
          <p:cNvPr id="235"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36" name="" descr=""/>
          <p:cNvPicPr/>
          <p:nvPr/>
        </p:nvPicPr>
        <p:blipFill>
          <a:blip r:embed="rId1"/>
          <a:stretch/>
        </p:blipFill>
        <p:spPr>
          <a:xfrm>
            <a:off x="2160000" y="1414440"/>
            <a:ext cx="6200640" cy="4142880"/>
          </a:xfrm>
          <a:prstGeom prst="rect">
            <a:avLst/>
          </a:prstGeom>
          <a:noFill/>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Only Find Nearest Boids</a:t>
            </a:r>
            <a:endParaRPr b="1" lang="es-ES" sz="4400" strike="noStrike" u="none">
              <a:solidFill>
                <a:srgbClr val="062814"/>
              </a:solidFill>
              <a:uFillTx/>
              <a:latin typeface="Noto Sans"/>
            </a:endParaRPr>
          </a:p>
        </p:txBody>
      </p:sp>
      <p:sp>
        <p:nvSpPr>
          <p:cNvPr id="238" name="PlaceHolder 2"/>
          <p:cNvSpPr>
            <a:spLocks noGrp="1"/>
          </p:cNvSpPr>
          <p:nvPr>
            <p:ph/>
          </p:nvPr>
        </p:nvSpPr>
        <p:spPr>
          <a:xfrm>
            <a:off x="1260000" y="1800000"/>
            <a:ext cx="8280000" cy="342000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results are (sort of) mixed</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In the best case scenario (right after spawning) the old code is faster</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After some time (when clumped together) the new code is clearly better</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We can adjust the number of boids to consider to further improve results (at a cost)</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General Optimization Tips</a:t>
            </a:r>
            <a:endParaRPr b="1" lang="es-ES" sz="4400" strike="noStrike" u="none">
              <a:solidFill>
                <a:srgbClr val="062814"/>
              </a:solidFill>
              <a:uFillTx/>
              <a:latin typeface="Noto Sans"/>
            </a:endParaRPr>
          </a:p>
        </p:txBody>
      </p:sp>
      <p:sp>
        <p:nvSpPr>
          <p:cNvPr id="240" name="PlaceHolder 2"/>
          <p:cNvSpPr>
            <a:spLocks noGrp="1"/>
          </p:cNvSpPr>
          <p:nvPr>
            <p:ph/>
          </p:nvPr>
        </p:nvSpPr>
        <p:spPr>
          <a:xfrm>
            <a:off x="1260000" y="1800000"/>
            <a:ext cx="8280000" cy="342000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Always try to avoid running code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Method Inlining</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Garbage collection</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Use pre-built/native methods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Find Unity methods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C# Properties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General Optimization Tips</a:t>
            </a:r>
            <a:endParaRPr b="1" lang="es-ES" sz="4400" strike="noStrike" u="none">
              <a:solidFill>
                <a:srgbClr val="062814"/>
              </a:solidFill>
              <a:uFillTx/>
              <a:latin typeface="Noto Sans"/>
            </a:endParaRPr>
          </a:p>
        </p:txBody>
      </p:sp>
      <p:sp>
        <p:nvSpPr>
          <p:cNvPr id="242" name="PlaceHolder 2"/>
          <p:cNvSpPr>
            <a:spLocks noGrp="1"/>
          </p:cNvSpPr>
          <p:nvPr>
            <p:ph/>
          </p:nvPr>
        </p:nvSpPr>
        <p:spPr>
          <a:xfrm>
            <a:off x="360000" y="1800000"/>
            <a:ext cx="91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Logs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Cost of branches (ifs/whiles)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Virtual methods?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Function parameters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Cache misses (memory alignment)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fontScale="92500" lnSpcReduction="9999"/>
          </a:bodyPr>
          <a:p>
            <a:pPr indent="0" algn="ctr">
              <a:buNone/>
            </a:pPr>
            <a:r>
              <a:rPr b="1" lang="es-ES" sz="4400" strike="noStrike" u="none">
                <a:solidFill>
                  <a:srgbClr val="062814"/>
                </a:solidFill>
                <a:uFillTx/>
                <a:latin typeface="Noto Sans"/>
              </a:rPr>
              <a:t>Avoid Running Unnecessary Code</a:t>
            </a:r>
            <a:endParaRPr b="1" lang="es-ES" sz="4400" strike="noStrike" u="none">
              <a:solidFill>
                <a:srgbClr val="062814"/>
              </a:solidFill>
              <a:uFillTx/>
              <a:latin typeface="Noto Sans"/>
            </a:endParaRPr>
          </a:p>
        </p:txBody>
      </p:sp>
      <p:sp>
        <p:nvSpPr>
          <p:cNvPr id="244"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fastest code is </a:t>
            </a:r>
            <a:r>
              <a:rPr b="1" lang="es-ES" sz="3200" strike="noStrike" u="none">
                <a:solidFill>
                  <a:srgbClr val="062814"/>
                </a:solidFill>
                <a:uFillTx/>
                <a:latin typeface="Noto Sans"/>
              </a:rPr>
              <a:t>always</a:t>
            </a:r>
            <a:r>
              <a:rPr b="0" lang="es-ES" sz="3200" strike="noStrike" u="none">
                <a:solidFill>
                  <a:srgbClr val="062814"/>
                </a:solidFill>
                <a:uFillTx/>
                <a:latin typeface="Noto Sans"/>
              </a:rPr>
              <a:t> the</a:t>
            </a:r>
            <a:r>
              <a:rPr b="0" lang="es-ES" sz="3200" strike="noStrike" u="none">
                <a:solidFill>
                  <a:srgbClr val="062814"/>
                </a:solidFill>
                <a:uFillTx/>
                <a:latin typeface="Noto Sans"/>
              </a:rPr>
              <a:t> one that’s not run</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Revise your code and check if you can avoid some parts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Like happened to me with the cells with no boids </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Method Inlining</a:t>
            </a:r>
            <a:endParaRPr b="1" lang="es-ES" sz="4400" strike="noStrike" u="none">
              <a:solidFill>
                <a:srgbClr val="062814"/>
              </a:solidFill>
              <a:uFillTx/>
              <a:latin typeface="Noto Sans"/>
            </a:endParaRPr>
          </a:p>
        </p:txBody>
      </p:sp>
      <p:sp>
        <p:nvSpPr>
          <p:cNvPr id="246" name="PlaceHolder 2"/>
          <p:cNvSpPr>
            <a:spLocks noGrp="1"/>
          </p:cNvSpPr>
          <p:nvPr>
            <p:ph/>
          </p:nvPr>
        </p:nvSpPr>
        <p:spPr>
          <a:xfrm>
            <a:off x="360000" y="1800000"/>
            <a:ext cx="91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In C++ this may be more important</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You can use MethodImpl to tip the compiler what methods to inline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Still, in my tests I showed no conclusive results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Certain hardware may be more affected</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Garbage Collection</a:t>
            </a:r>
            <a:endParaRPr b="1" lang="es-ES" sz="4400" strike="noStrike" u="none">
              <a:solidFill>
                <a:srgbClr val="062814"/>
              </a:solidFill>
              <a:uFillTx/>
              <a:latin typeface="Noto Sans"/>
            </a:endParaRPr>
          </a:p>
        </p:txBody>
      </p:sp>
      <p:sp>
        <p:nvSpPr>
          <p:cNvPr id="248" name="PlaceHolder 2"/>
          <p:cNvSpPr>
            <a:spLocks noGrp="1"/>
          </p:cNvSpPr>
          <p:nvPr>
            <p:ph/>
          </p:nvPr>
        </p:nvSpPr>
        <p:spPr>
          <a:xfrm>
            <a:off x="1260000" y="1800000"/>
            <a:ext cx="82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Garbage collection is very relevant in games because it causes ‘hiccups’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have to minimize memory allocations and (particularly) deallocations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Reuse lists, strings, etc.</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Use pools</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Use Native Methods</a:t>
            </a:r>
            <a:endParaRPr b="1" lang="es-ES" sz="4400" strike="noStrike" u="none">
              <a:solidFill>
                <a:srgbClr val="062814"/>
              </a:solidFill>
              <a:uFillTx/>
              <a:latin typeface="Noto Sans"/>
            </a:endParaRPr>
          </a:p>
        </p:txBody>
      </p:sp>
      <p:sp>
        <p:nvSpPr>
          <p:cNvPr id="250"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Certain very common operations have native methods that are usually quite optimized</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Finding, sorting, etc. for Array, List, etc.</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Math operations</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spcBef>
                <a:spcPts val="1417"/>
              </a:spcBef>
              <a:buNone/>
            </a:pPr>
            <a:r>
              <a:rPr b="1" lang="es-ES" sz="4400" strike="noStrike" u="none">
                <a:solidFill>
                  <a:srgbClr val="062814"/>
                </a:solidFill>
                <a:uFillTx/>
                <a:latin typeface="Noto Sans"/>
              </a:rPr>
              <a:t>Find Unity methods</a:t>
            </a:r>
            <a:endParaRPr b="1" lang="es-ES" sz="4400" strike="noStrike" u="none">
              <a:solidFill>
                <a:srgbClr val="062814"/>
              </a:solidFill>
              <a:uFillTx/>
              <a:latin typeface="Noto Sans"/>
            </a:endParaRPr>
          </a:p>
        </p:txBody>
      </p:sp>
      <p:sp>
        <p:nvSpPr>
          <p:cNvPr id="252" name="PlaceHolder 2"/>
          <p:cNvSpPr>
            <a:spLocks noGrp="1"/>
          </p:cNvSpPr>
          <p:nvPr>
            <p:ph/>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Find### Unity methods are usually particularly bad for performance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They could be used in initializations but should be avoided elsewhere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GetComponent is definitely not so bad</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Still if it can be avoided, do it </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C# Properties</a:t>
            </a:r>
            <a:endParaRPr b="1" lang="es-ES" sz="4400" strike="noStrike" u="none">
              <a:solidFill>
                <a:srgbClr val="062814"/>
              </a:solidFill>
              <a:uFillTx/>
              <a:latin typeface="Noto Sans"/>
            </a:endParaRPr>
          </a:p>
        </p:txBody>
      </p:sp>
      <p:sp>
        <p:nvSpPr>
          <p:cNvPr id="254" name="PlaceHolder 2"/>
          <p:cNvSpPr>
            <a:spLocks noGrp="1"/>
          </p:cNvSpPr>
          <p:nvPr>
            <p:ph/>
          </p:nvPr>
        </p:nvSpPr>
        <p:spPr>
          <a:xfrm>
            <a:off x="1260000" y="1800000"/>
            <a:ext cx="8280000" cy="342000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C# Properties are not usually a problem</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Still people usually forget they are not variables: they are functions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There’s a cost for calling a function</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Although many times a C# property is inlined</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Logs</a:t>
            </a:r>
            <a:endParaRPr b="1" lang="es-ES" sz="4400" strike="noStrike" u="none">
              <a:solidFill>
                <a:srgbClr val="062814"/>
              </a:solidFill>
              <a:uFillTx/>
              <a:latin typeface="Noto Sans"/>
            </a:endParaRPr>
          </a:p>
        </p:txBody>
      </p:sp>
      <p:sp>
        <p:nvSpPr>
          <p:cNvPr id="256" name="PlaceHolder 2"/>
          <p:cNvSpPr>
            <a:spLocks noGrp="1"/>
          </p:cNvSpPr>
          <p:nvPr>
            <p:ph/>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Logs are very useful tools…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 </a:t>
            </a:r>
            <a:r>
              <a:rPr b="0" lang="es-ES" sz="3200" strike="noStrike" u="none">
                <a:solidFill>
                  <a:srgbClr val="062814"/>
                </a:solidFill>
                <a:uFillTx/>
                <a:latin typeface="Noto Sans"/>
              </a:rPr>
              <a:t>but they can sometimes be a performance problem</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It’s particularly important to ensure that logs are not causing problems when they are not shown (due to strings)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Cost of Branches</a:t>
            </a:r>
            <a:endParaRPr b="1" lang="es-ES" sz="4400" strike="noStrike" u="none">
              <a:solidFill>
                <a:srgbClr val="062814"/>
              </a:solidFill>
              <a:uFillTx/>
              <a:latin typeface="Noto Sans"/>
            </a:endParaRPr>
          </a:p>
        </p:txBody>
      </p:sp>
      <p:sp>
        <p:nvSpPr>
          <p:cNvPr id="258" name="PlaceHolder 2"/>
          <p:cNvSpPr>
            <a:spLocks noGrp="1"/>
          </p:cNvSpPr>
          <p:nvPr>
            <p:ph/>
          </p:nvPr>
        </p:nvSpPr>
        <p:spPr>
          <a:xfrm>
            <a:off x="1260000" y="1800000"/>
            <a:ext cx="82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Ifs and loops (while, for, etc) force the processor to choose between to branches of code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This is bad for performance in modern hardware (particularly in certain consoles without branch prediction)</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Virtual Methods</a:t>
            </a:r>
            <a:endParaRPr b="1" lang="es-ES" sz="4400" strike="noStrike" u="none">
              <a:solidFill>
                <a:srgbClr val="062814"/>
              </a:solidFill>
              <a:uFillTx/>
              <a:latin typeface="Noto Sans"/>
            </a:endParaRPr>
          </a:p>
        </p:txBody>
      </p:sp>
      <p:sp>
        <p:nvSpPr>
          <p:cNvPr id="260"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I’ve heard virtual methods can impact greatly performance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This is false in general</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There may be particular cases where abuse could lead to performance impact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Function Parameters</a:t>
            </a:r>
            <a:endParaRPr b="1" lang="es-ES" sz="4400" strike="noStrike" u="none">
              <a:solidFill>
                <a:srgbClr val="062814"/>
              </a:solidFill>
              <a:uFillTx/>
              <a:latin typeface="Noto Sans"/>
            </a:endParaRPr>
          </a:p>
        </p:txBody>
      </p:sp>
      <p:sp>
        <p:nvSpPr>
          <p:cNvPr id="262" name="PlaceHolder 2"/>
          <p:cNvSpPr>
            <a:spLocks noGrp="1"/>
          </p:cNvSpPr>
          <p:nvPr>
            <p:ph/>
          </p:nvPr>
        </p:nvSpPr>
        <p:spPr>
          <a:xfrm>
            <a:off x="360000" y="1800000"/>
            <a:ext cx="91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parameters of a method are passed by copy or reference depending on the type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Big structs may cause unnecessary extra code when passing them to a function</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On the other hand, in general structs help with performance (by being in the heap)</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Memory Alignment</a:t>
            </a:r>
            <a:endParaRPr b="1" lang="es-ES" sz="4400" strike="noStrike" u="none">
              <a:solidFill>
                <a:srgbClr val="062814"/>
              </a:solidFill>
              <a:uFillTx/>
              <a:latin typeface="Noto Sans"/>
            </a:endParaRPr>
          </a:p>
        </p:txBody>
      </p:sp>
      <p:sp>
        <p:nvSpPr>
          <p:cNvPr id="264"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Cache misses may impact performance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In order to minimize them we can structure our data maximizing memory alignment</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That is, we have the memory arranged in a way that’s similar to how we use it</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Memory Alignment</a:t>
            </a:r>
            <a:endParaRPr b="1" lang="es-ES" sz="4400" strike="noStrike" u="none">
              <a:solidFill>
                <a:srgbClr val="062814"/>
              </a:solidFill>
              <a:uFillTx/>
              <a:latin typeface="Noto Sans"/>
            </a:endParaRPr>
          </a:p>
        </p:txBody>
      </p:sp>
      <p:sp>
        <p:nvSpPr>
          <p:cNvPr id="266"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ECS in Unity is thought to ‘enforce’ (encourage?) this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It’s only relevant for big sets of data</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Only in certain cases we really want to focus on this sort of things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Memory Profiling</a:t>
            </a:r>
            <a:endParaRPr b="1" lang="es-ES" sz="4400" strike="noStrike" u="none">
              <a:solidFill>
                <a:srgbClr val="062814"/>
              </a:solidFill>
              <a:uFillTx/>
              <a:latin typeface="Noto Sans"/>
            </a:endParaRPr>
          </a:p>
        </p:txBody>
      </p:sp>
      <p:sp>
        <p:nvSpPr>
          <p:cNvPr id="268"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Unity provides a comprehensive Memory Profiler</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But we have to install it as a package of the project</a:t>
            </a:r>
            <a:endParaRPr b="0" lang="es-ES" sz="28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We can open it directly from the profiler</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Memory Profiling</a:t>
            </a:r>
            <a:endParaRPr b="1" lang="es-ES" sz="4400" strike="noStrike" u="none">
              <a:solidFill>
                <a:srgbClr val="062814"/>
              </a:solidFill>
              <a:uFillTx/>
              <a:latin typeface="Noto Sans"/>
            </a:endParaRPr>
          </a:p>
        </p:txBody>
      </p:sp>
      <p:sp>
        <p:nvSpPr>
          <p:cNvPr id="270"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71" name="" descr=""/>
          <p:cNvPicPr/>
          <p:nvPr/>
        </p:nvPicPr>
        <p:blipFill>
          <a:blip r:embed="rId1"/>
          <a:stretch/>
        </p:blipFill>
        <p:spPr>
          <a:xfrm>
            <a:off x="2196000" y="1440000"/>
            <a:ext cx="6120000" cy="4142520"/>
          </a:xfrm>
          <a:prstGeom prst="rect">
            <a:avLst/>
          </a:prstGeom>
          <a:noFill/>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Memory Profiling</a:t>
            </a:r>
            <a:endParaRPr b="1" lang="es-ES" sz="4400" strike="noStrike" u="none">
              <a:solidFill>
                <a:srgbClr val="062814"/>
              </a:solidFill>
              <a:uFillTx/>
              <a:latin typeface="Noto Sans"/>
            </a:endParaRPr>
          </a:p>
        </p:txBody>
      </p:sp>
      <p:sp>
        <p:nvSpPr>
          <p:cNvPr id="273"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74" name="" descr=""/>
          <p:cNvPicPr/>
          <p:nvPr/>
        </p:nvPicPr>
        <p:blipFill>
          <a:blip r:embed="rId1"/>
          <a:stretch/>
        </p:blipFill>
        <p:spPr>
          <a:xfrm>
            <a:off x="590040" y="1379880"/>
            <a:ext cx="9021960" cy="4236120"/>
          </a:xfrm>
          <a:prstGeom prst="rect">
            <a:avLst/>
          </a:prstGeom>
          <a:noFill/>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Memory Optimization</a:t>
            </a:r>
            <a:endParaRPr b="1" lang="es-ES" sz="4400" strike="noStrike" u="none">
              <a:solidFill>
                <a:srgbClr val="062814"/>
              </a:solidFill>
              <a:uFillTx/>
              <a:latin typeface="Noto Sans"/>
            </a:endParaRPr>
          </a:p>
        </p:txBody>
      </p:sp>
      <p:sp>
        <p:nvSpPr>
          <p:cNvPr id="276"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On PC it’s not particularly relevant nowadays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On consoles (and mobile) things change, particularly on the Switch</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Memory Optimization</a:t>
            </a:r>
            <a:endParaRPr b="1" lang="es-ES" sz="4400" strike="noStrike" u="none">
              <a:solidFill>
                <a:srgbClr val="062814"/>
              </a:solidFill>
              <a:uFillTx/>
              <a:latin typeface="Noto Sans"/>
            </a:endParaRPr>
          </a:p>
        </p:txBody>
      </p:sp>
      <p:sp>
        <p:nvSpPr>
          <p:cNvPr id="278"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Main offenders: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Textures</a:t>
            </a:r>
            <a:endParaRPr b="0" lang="es-ES" sz="2800" strike="noStrike" u="none">
              <a:solidFill>
                <a:srgbClr val="062814"/>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62814"/>
                </a:solidFill>
                <a:uFillTx/>
                <a:latin typeface="Noto Sans"/>
              </a:rPr>
              <a:t>UI, Fonts,...</a:t>
            </a:r>
            <a:endParaRPr b="0" lang="es-ES" sz="24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Models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Shaders</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Memory Optimizations</a:t>
            </a:r>
            <a:endParaRPr b="1" lang="es-ES" sz="4400" strike="noStrike" u="none">
              <a:solidFill>
                <a:srgbClr val="062814"/>
              </a:solidFill>
              <a:uFillTx/>
              <a:latin typeface="Noto Sans"/>
            </a:endParaRPr>
          </a:p>
        </p:txBody>
      </p:sp>
      <p:sp>
        <p:nvSpPr>
          <p:cNvPr id="280" name="PlaceHolder 2"/>
          <p:cNvSpPr>
            <a:spLocks noGrp="1"/>
          </p:cNvSpPr>
          <p:nvPr>
            <p:ph/>
          </p:nvPr>
        </p:nvSpPr>
        <p:spPr>
          <a:xfrm>
            <a:off x="360000" y="1800000"/>
            <a:ext cx="91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Main tips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Don’t have loaded things that are not necessary</a:t>
            </a:r>
            <a:endParaRPr b="0" lang="es-ES" sz="2800" strike="noStrike" u="none">
              <a:solidFill>
                <a:srgbClr val="062814"/>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62814"/>
                </a:solidFill>
                <a:uFillTx/>
                <a:latin typeface="Noto Sans"/>
              </a:rPr>
              <a:t>Beware of hidden references (Prefabs, Fonts, etc.)</a:t>
            </a:r>
            <a:endParaRPr b="0" lang="es-ES" sz="24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Make use of Addressables where appropriate to minimize resources in memory</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Reduce texture size where appropriate/possible</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GPU Profiling Tools</a:t>
            </a:r>
            <a:endParaRPr b="1" lang="es-ES" sz="4400" strike="noStrike" u="none">
              <a:solidFill>
                <a:srgbClr val="062814"/>
              </a:solidFill>
              <a:uFillTx/>
              <a:latin typeface="Noto Sans"/>
            </a:endParaRPr>
          </a:p>
        </p:txBody>
      </p:sp>
      <p:sp>
        <p:nvSpPr>
          <p:cNvPr id="282" name="PlaceHolder 2"/>
          <p:cNvSpPr>
            <a:spLocks noGrp="1"/>
          </p:cNvSpPr>
          <p:nvPr>
            <p:ph/>
          </p:nvPr>
        </p:nvSpPr>
        <p:spPr>
          <a:xfrm>
            <a:off x="360000" y="1800000"/>
            <a:ext cx="91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 first step towards GPU profiling should be the normal profiler</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In the Rendering part we can see quite a bit of info on what’s being rendered</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 may give us clues as to where things may be going south</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GPU Profiling Tools</a:t>
            </a:r>
            <a:endParaRPr b="1" lang="es-ES" sz="4400" strike="noStrike" u="none">
              <a:solidFill>
                <a:srgbClr val="062814"/>
              </a:solidFill>
              <a:uFillTx/>
              <a:latin typeface="Noto Sans"/>
            </a:endParaRPr>
          </a:p>
        </p:txBody>
      </p:sp>
      <p:sp>
        <p:nvSpPr>
          <p:cNvPr id="284"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85" name="" descr=""/>
          <p:cNvPicPr/>
          <p:nvPr/>
        </p:nvPicPr>
        <p:blipFill>
          <a:blip r:embed="rId1"/>
          <a:stretch/>
        </p:blipFill>
        <p:spPr>
          <a:xfrm>
            <a:off x="2160000" y="1345320"/>
            <a:ext cx="6300000" cy="4242600"/>
          </a:xfrm>
          <a:prstGeom prst="rect">
            <a:avLst/>
          </a:prstGeom>
          <a:noFill/>
          <a:ln w="0">
            <a:noFill/>
          </a:ln>
        </p:spPr>
      </p:pic>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GPU Profiling Tools</a:t>
            </a:r>
            <a:endParaRPr b="1" lang="es-ES" sz="4400" strike="noStrike" u="none">
              <a:solidFill>
                <a:srgbClr val="062814"/>
              </a:solidFill>
              <a:uFillTx/>
              <a:latin typeface="Noto Sans"/>
            </a:endParaRPr>
          </a:p>
        </p:txBody>
      </p:sp>
      <p:sp>
        <p:nvSpPr>
          <p:cNvPr id="287" name="PlaceHolder 2"/>
          <p:cNvSpPr>
            <a:spLocks noGrp="1"/>
          </p:cNvSpPr>
          <p:nvPr>
            <p:ph/>
          </p:nvPr>
        </p:nvSpPr>
        <p:spPr>
          <a:xfrm>
            <a:off x="1260000" y="1800000"/>
            <a:ext cx="8280000" cy="32882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Rendering also takes CPU time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There are many steps to the rendering process, most of them include CPU processing</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As a rule of thumb, reducing the number of objects rendered improve CPU performance</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Frame Debugger</a:t>
            </a:r>
            <a:endParaRPr b="1" lang="es-ES" sz="4400" strike="noStrike" u="none">
              <a:solidFill>
                <a:srgbClr val="062814"/>
              </a:solidFill>
              <a:uFillTx/>
              <a:latin typeface="Noto Sans"/>
            </a:endParaRPr>
          </a:p>
        </p:txBody>
      </p:sp>
      <p:sp>
        <p:nvSpPr>
          <p:cNvPr id="289" name="PlaceHolder 2"/>
          <p:cNvSpPr>
            <a:spLocks noGrp="1"/>
          </p:cNvSpPr>
          <p:nvPr>
            <p:ph/>
          </p:nvPr>
        </p:nvSpPr>
        <p:spPr>
          <a:xfrm>
            <a:off x="1260000" y="1800000"/>
            <a:ext cx="8280000" cy="360000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This tool is more of a debugger than a profiler</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Still it’s very useful to understand what’s being rendered in the scene and when</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You may find you’re rendering things you didn’t know or in a different way from what you expected</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1260000" y="43200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Frame Debugger</a:t>
            </a:r>
            <a:endParaRPr b="1" lang="es-ES" sz="4400" strike="noStrike" u="none">
              <a:solidFill>
                <a:srgbClr val="062814"/>
              </a:solidFill>
              <a:uFillTx/>
              <a:latin typeface="Noto Sans"/>
            </a:endParaRPr>
          </a:p>
        </p:txBody>
      </p:sp>
      <p:pic>
        <p:nvPicPr>
          <p:cNvPr id="291" name="" descr=""/>
          <p:cNvPicPr/>
          <p:nvPr/>
        </p:nvPicPr>
        <p:blipFill>
          <a:blip r:embed="rId1"/>
          <a:stretch/>
        </p:blipFill>
        <p:spPr>
          <a:xfrm>
            <a:off x="1656000" y="1336320"/>
            <a:ext cx="7200000" cy="4269240"/>
          </a:xfrm>
          <a:prstGeom prst="rect">
            <a:avLst/>
          </a:prstGeom>
          <a:noFill/>
          <a:ln w="0">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Render Graph Viewer</a:t>
            </a:r>
            <a:endParaRPr b="1" lang="es-ES" sz="4400" strike="noStrike" u="none">
              <a:solidFill>
                <a:srgbClr val="062814"/>
              </a:solidFill>
              <a:uFillTx/>
              <a:latin typeface="Noto Sans"/>
            </a:endParaRPr>
          </a:p>
        </p:txBody>
      </p:sp>
      <p:sp>
        <p:nvSpPr>
          <p:cNvPr id="293" name="PlaceHolder 2"/>
          <p:cNvSpPr>
            <a:spLocks noGrp="1"/>
          </p:cNvSpPr>
          <p:nvPr>
            <p:ph/>
          </p:nvPr>
        </p:nvSpPr>
        <p:spPr>
          <a:xfrm>
            <a:off x="1260000" y="1800000"/>
            <a:ext cx="82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This is a new tool but it’s quite useful to understand what’s the rendering process like for your game</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 may be quite useful to identify points where rendering CPU time may be optimized</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Render Graph Viewer</a:t>
            </a:r>
            <a:endParaRPr b="1" lang="es-ES" sz="4400" strike="noStrike" u="none">
              <a:solidFill>
                <a:srgbClr val="062814"/>
              </a:solidFill>
              <a:uFillTx/>
              <a:latin typeface="Noto Sans"/>
            </a:endParaRPr>
          </a:p>
        </p:txBody>
      </p:sp>
      <p:sp>
        <p:nvSpPr>
          <p:cNvPr id="295"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pic>
        <p:nvPicPr>
          <p:cNvPr id="296" name="" descr=""/>
          <p:cNvPicPr/>
          <p:nvPr/>
        </p:nvPicPr>
        <p:blipFill>
          <a:blip r:embed="rId1"/>
          <a:stretch/>
        </p:blipFill>
        <p:spPr>
          <a:xfrm>
            <a:off x="1800000" y="1451880"/>
            <a:ext cx="7052760" cy="4128120"/>
          </a:xfrm>
          <a:prstGeom prst="rect">
            <a:avLst/>
          </a:prstGeom>
          <a:noFill/>
          <a:ln w="0">
            <a:noFill/>
          </a:ln>
        </p:spPr>
      </p:pic>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GPU Optimization Tips</a:t>
            </a:r>
            <a:endParaRPr b="1" lang="es-ES" sz="4400" strike="noStrike" u="none">
              <a:solidFill>
                <a:srgbClr val="062814"/>
              </a:solidFill>
              <a:uFillTx/>
              <a:latin typeface="Noto Sans"/>
            </a:endParaRPr>
          </a:p>
        </p:txBody>
      </p:sp>
      <p:sp>
        <p:nvSpPr>
          <p:cNvPr id="298"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Identify bottlenecks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And check they are actual bottlenecks</a:t>
            </a:r>
            <a:endParaRPr b="0" lang="es-ES" sz="28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Usual culprits</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Num of Draw Calls</a:t>
            </a:r>
            <a:endParaRPr b="0" lang="es-ES" sz="28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Pixel shaders, particularly for post-pro effects</a:t>
            </a:r>
            <a:endParaRPr b="0" lang="es-ES" sz="28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GPU Optimization Tips</a:t>
            </a:r>
            <a:endParaRPr b="1" lang="es-ES" sz="4400" strike="noStrike" u="none">
              <a:solidFill>
                <a:srgbClr val="062814"/>
              </a:solidFill>
              <a:uFillTx/>
              <a:latin typeface="Noto Sans"/>
            </a:endParaRPr>
          </a:p>
        </p:txBody>
      </p:sp>
      <p:sp>
        <p:nvSpPr>
          <p:cNvPr id="300" name="PlaceHolder 2"/>
          <p:cNvSpPr>
            <a:spLocks noGrp="1"/>
          </p:cNvSpPr>
          <p:nvPr>
            <p:ph/>
          </p:nvPr>
        </p:nvSpPr>
        <p:spPr>
          <a:xfrm>
            <a:off x="360000" y="1800000"/>
            <a:ext cx="91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Use LODs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Deferred vs Forward</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Use Instancing</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Avoid Abusing Post-Process Effects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Avoid Overdraw</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LODs</a:t>
            </a:r>
            <a:endParaRPr b="1" lang="es-ES" sz="4400" strike="noStrike" u="none">
              <a:solidFill>
                <a:srgbClr val="062814"/>
              </a:solidFill>
              <a:uFillTx/>
              <a:latin typeface="Noto Sans"/>
            </a:endParaRPr>
          </a:p>
        </p:txBody>
      </p:sp>
      <p:sp>
        <p:nvSpPr>
          <p:cNvPr id="302" name="PlaceHolder 2"/>
          <p:cNvSpPr>
            <a:spLocks noGrp="1"/>
          </p:cNvSpPr>
          <p:nvPr>
            <p:ph/>
          </p:nvPr>
        </p:nvSpPr>
        <p:spPr>
          <a:xfrm>
            <a:off x="360000" y="1800000"/>
            <a:ext cx="9180000" cy="328824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LODs reduce the complexity of the model when far away</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But not only the model, we can change the material and use a simpler shader</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Having lots of tris far away is quite inefficient. It’s not normally a big deal but in some cases it may end up being relevant</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92500" lnSpcReduction="9999"/>
          </a:bodyPr>
          <a:p>
            <a:pPr indent="0" algn="ctr">
              <a:buNone/>
            </a:pPr>
            <a:r>
              <a:rPr b="1" lang="es-ES" sz="4400" strike="noStrike" u="none">
                <a:solidFill>
                  <a:srgbClr val="062814"/>
                </a:solidFill>
                <a:uFillTx/>
                <a:latin typeface="Noto Sans"/>
              </a:rPr>
              <a:t>Deferred vs Forward Rendering</a:t>
            </a:r>
            <a:endParaRPr b="1" lang="es-ES" sz="4400" strike="noStrike" u="none">
              <a:solidFill>
                <a:srgbClr val="062814"/>
              </a:solidFill>
              <a:uFillTx/>
              <a:latin typeface="Noto Sans"/>
            </a:endParaRPr>
          </a:p>
        </p:txBody>
      </p:sp>
      <p:sp>
        <p:nvSpPr>
          <p:cNvPr id="304" name="PlaceHolder 2"/>
          <p:cNvSpPr>
            <a:spLocks noGrp="1"/>
          </p:cNvSpPr>
          <p:nvPr>
            <p:ph/>
          </p:nvPr>
        </p:nvSpPr>
        <p:spPr>
          <a:xfrm>
            <a:off x="360000" y="1800000"/>
            <a:ext cx="91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Deferred rendering has a higher setup cost than Forward rendering but you can have (almost) as many lights as you want</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If you are using only one light (the sun?) maybe you don’t need Deferred</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Instancing</a:t>
            </a:r>
            <a:endParaRPr b="1" lang="es-ES" sz="4400" strike="noStrike" u="none">
              <a:solidFill>
                <a:srgbClr val="062814"/>
              </a:solidFill>
              <a:uFillTx/>
              <a:latin typeface="Noto Sans"/>
            </a:endParaRPr>
          </a:p>
        </p:txBody>
      </p:sp>
      <p:sp>
        <p:nvSpPr>
          <p:cNvPr id="306" name="PlaceHolder 2"/>
          <p:cNvSpPr>
            <a:spLocks noGrp="1"/>
          </p:cNvSpPr>
          <p:nvPr>
            <p:ph/>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If you have things that repeat a lot using instancing is probably the best option</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Nowadays Unity may do this on its own with the dynamic batcher</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You can potentially do that manually if necessary (but it has its drawbacks)</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85000" lnSpcReduction="9999"/>
          </a:bodyPr>
          <a:p>
            <a:pPr indent="0" algn="ctr">
              <a:spcBef>
                <a:spcPts val="1417"/>
              </a:spcBef>
              <a:buNone/>
            </a:pPr>
            <a:r>
              <a:rPr b="1" lang="es-ES" sz="4400" strike="noStrike" u="none">
                <a:solidFill>
                  <a:srgbClr val="062814"/>
                </a:solidFill>
                <a:uFillTx/>
                <a:latin typeface="Noto Sans"/>
              </a:rPr>
              <a:t>Avoid Abusing Post-Process Effects</a:t>
            </a:r>
            <a:endParaRPr b="1" lang="es-ES" sz="4400" strike="noStrike" u="none">
              <a:solidFill>
                <a:srgbClr val="062814"/>
              </a:solidFill>
              <a:uFillTx/>
              <a:latin typeface="Noto Sans"/>
            </a:endParaRPr>
          </a:p>
        </p:txBody>
      </p:sp>
      <p:sp>
        <p:nvSpPr>
          <p:cNvPr id="308" name="PlaceHolder 2"/>
          <p:cNvSpPr>
            <a:spLocks noGrp="1"/>
          </p:cNvSpPr>
          <p:nvPr>
            <p:ph/>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Certain post-pro effects are quite expensive </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Depth of Field, Bloom, some SSAO, SS Reflections, etc.</a:t>
            </a:r>
            <a:endParaRPr b="0" lang="es-ES" sz="28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Beware of their cost and be quick to cut there, either the whole effect or the resolution you’re applying it over</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Avoid Overdraw</a:t>
            </a:r>
            <a:endParaRPr b="1" lang="es-ES" sz="4400" strike="noStrike" u="none">
              <a:solidFill>
                <a:srgbClr val="062814"/>
              </a:solidFill>
              <a:uFillTx/>
              <a:latin typeface="Noto Sans"/>
            </a:endParaRPr>
          </a:p>
        </p:txBody>
      </p:sp>
      <p:sp>
        <p:nvSpPr>
          <p:cNvPr id="310"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Transparency is a problem with GPUs, particularly older ones</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Avoid overdrawing stuff</a:t>
            </a:r>
            <a:endParaRPr b="0" lang="es-ES" sz="32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Use Alpha Cutout wherever possible</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360000" y="468000"/>
            <a:ext cx="91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Multithreading</a:t>
            </a:r>
            <a:endParaRPr b="1" lang="es-ES" sz="4400" strike="noStrike" u="none">
              <a:solidFill>
                <a:srgbClr val="062814"/>
              </a:solidFill>
              <a:uFillTx/>
              <a:latin typeface="Noto Sans"/>
            </a:endParaRPr>
          </a:p>
        </p:txBody>
      </p:sp>
      <p:sp>
        <p:nvSpPr>
          <p:cNvPr id="312" name="PlaceHolder 2"/>
          <p:cNvSpPr>
            <a:spLocks noGrp="1"/>
          </p:cNvSpPr>
          <p:nvPr>
            <p:ph/>
          </p:nvPr>
        </p:nvSpPr>
        <p:spPr>
          <a:xfrm>
            <a:off x="1260000" y="1800000"/>
            <a:ext cx="8280000" cy="360000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It’s a very important aspect to consider when profiling and optimizing code</a:t>
            </a:r>
            <a:endParaRPr b="0" lang="es-ES" sz="3200" strike="noStrike" u="none">
              <a:solidFill>
                <a:srgbClr val="062814"/>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62814"/>
                </a:solidFill>
                <a:uFillTx/>
                <a:latin typeface="Noto Sans"/>
              </a:rPr>
              <a:t>Particularly in modern hardware</a:t>
            </a:r>
            <a:endParaRPr b="0" lang="es-ES" sz="2800" strike="noStrike" u="none">
              <a:solidFill>
                <a:srgbClr val="062814"/>
              </a:solidFill>
              <a:uFillTx/>
              <a:latin typeface="Noto Sans"/>
            </a:endParaRPr>
          </a:p>
          <a:p>
            <a:pPr marL="432000" indent="-324000">
              <a:spcBef>
                <a:spcPts val="1417"/>
              </a:spcBef>
              <a:buClr>
                <a:srgbClr val="000000"/>
              </a:buClr>
              <a:buSzPct val="45000"/>
              <a:buFont typeface="Wingdings" charset="2"/>
              <a:buChar char=""/>
            </a:pPr>
            <a:r>
              <a:rPr b="0" lang="es-ES" sz="3200" strike="noStrike" u="none">
                <a:solidFill>
                  <a:srgbClr val="062814"/>
                </a:solidFill>
                <a:uFillTx/>
                <a:latin typeface="Noto Sans"/>
              </a:rPr>
              <a:t>Using ECS and Jobs helps a lot, but a simple task manager may be very useful as well helping you make the most of the processor</a:t>
            </a: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title"/>
          </p:nvPr>
        </p:nvSpPr>
        <p:spPr>
          <a:xfrm>
            <a:off x="540000" y="3733560"/>
            <a:ext cx="9072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Q &amp; A</a:t>
            </a:r>
            <a:endParaRPr b="1" lang="es-ES" sz="4400" strike="noStrike" u="none">
              <a:solidFill>
                <a:srgbClr val="062814"/>
              </a:solidFill>
              <a:uFillTx/>
              <a:latin typeface="Noto Sans"/>
            </a:endParaRPr>
          </a:p>
        </p:txBody>
      </p:sp>
      <p:sp>
        <p:nvSpPr>
          <p:cNvPr id="314"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1260000" y="3733560"/>
            <a:ext cx="8280000" cy="946440"/>
          </a:xfrm>
          <a:prstGeom prst="rect">
            <a:avLst/>
          </a:prstGeom>
          <a:noFill/>
          <a:ln w="0">
            <a:noFill/>
          </a:ln>
        </p:spPr>
        <p:txBody>
          <a:bodyPr lIns="0" rIns="0" tIns="0" bIns="0" anchor="ctr">
            <a:normAutofit/>
          </a:bodyPr>
          <a:p>
            <a:pPr indent="0" algn="ctr">
              <a:buNone/>
            </a:pPr>
            <a:r>
              <a:rPr b="1" lang="es-ES" sz="4400" strike="noStrike" u="none">
                <a:solidFill>
                  <a:srgbClr val="062814"/>
                </a:solidFill>
                <a:uFillTx/>
                <a:latin typeface="Noto Sans"/>
              </a:rPr>
              <a:t>Thanks!</a:t>
            </a:r>
            <a:endParaRPr b="1" lang="es-ES" sz="4400" strike="noStrike" u="none">
              <a:solidFill>
                <a:srgbClr val="062814"/>
              </a:solidFill>
              <a:uFillTx/>
              <a:latin typeface="Noto San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1899</TotalTime>
  <Application>LibreOffice/24.8.5.2$Windows_X86_64 LibreOffice_project/fddf2685c70b461e7832239a0162a77216259f22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2025-01-10T07:50:24Z</dcterms:created>
  <dc:creator/>
  <dc:description>
               Grey Elegant - LibreOffice Impress Template
                    by Ahmad Bayhaqi Saputra
This template is made as an answer to Indonesian LibreOffice Community and
Gimpscape ID's call-to-arms to contribute to the 10th anniversary of
LibreOffice celebration.
Content Material :
- icons,
  This template used icons from https://material.io and https://icons8.com/icons
- illustrations,
  This template used illustrations sourced at https://icons8.com/illustrations
- Photos,
  This template used photos sourced at https://unsplash.com
Credits:
This work is licensed under the Creative Commons Attribution-ShareAlike 4.0
International License by Ahmad Bayhaqi Saputra &lt;bayhaqisptr04@gmail.com&gt;.
To view a copy of this license, visit https://creativecommons.org/licenses/by-sa/4.0/legalcode
or send a letter to Creative Commons, PO Box 1866, Mountain View, CA 94042, USA.
Illustrations by Pixeltrue https://icons8.com/illustrations/author/5ec7b0e101d0360016f3d1b3 on icon8 (master slide "Table of content")
Photo by Dave Hoefler https://unsplash.com/fr/@iamthedave on Unsplash https://unsplash.com/fr/licence (slide 9)
    </dc:description>
  <dc:language>es-ES</dc:language>
  <cp:lastModifiedBy/>
  <dcterms:modified xsi:type="dcterms:W3CDTF">2025-03-04T13:07:22Z</dcterms:modified>
  <cp:revision>94</cp:revision>
  <dc:subject/>
  <dc:title>Grey Elegant</dc:title>
</cp:coreProperties>
</file>